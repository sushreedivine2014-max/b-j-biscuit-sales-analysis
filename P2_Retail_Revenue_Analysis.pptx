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3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Ex2.xml" ContentType="application/vnd.ms-office.chartex+xml"/>
  <Override PartName="/ppt/charts/style15.xml" ContentType="application/vnd.ms-office.chartstyle+xml"/>
  <Override PartName="/ppt/charts/colors15.xml" ContentType="application/vnd.ms-office.chartcolorstyle+xml"/>
  <Override PartName="/ppt/charts/chart1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ales%20Data%20of%20Biscuit%20Brand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ales%20Data%20of%20Biscuit%20Brand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ales%20Data%20of%20Biscuit%20Brand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ales%20Data%20of%20Biscuit%20Brand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ales%20Data%20of%20Biscuit%20Brand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C:\Users\User\Desktop\Sales%20Data%20of%20Biscuit%20Bra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dobe Caslon Pro Bold" panose="0205070206050A020403" pitchFamily="18" charset="0"/>
              </a:rPr>
              <a:t>Total</a:t>
            </a:r>
            <a:r>
              <a:rPr lang="en-US" baseline="0" dirty="0">
                <a:latin typeface="Adobe Caslon Pro Bold" panose="0205070206050A020403" pitchFamily="18" charset="0"/>
              </a:rPr>
              <a:t> Revenue by Product</a:t>
            </a:r>
            <a:endParaRPr lang="en-US" dirty="0">
              <a:latin typeface="Adobe Caslon Pro Bold" panose="0205070206050A020403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690523787405595"/>
          <c:y val="0.23667770825805406"/>
          <c:w val="0.74675644950613451"/>
          <c:h val="0.613259997560666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gradFill>
              <a:gsLst>
                <a:gs pos="0">
                  <a:schemeClr val="tx2"/>
                </a:gs>
                <a:gs pos="23000">
                  <a:schemeClr val="tx2">
                    <a:lumMod val="90000"/>
                  </a:schemeClr>
                </a:gs>
                <a:gs pos="69000">
                  <a:schemeClr val="tx2">
                    <a:lumMod val="50000"/>
                  </a:schemeClr>
                </a:gs>
                <a:gs pos="97000">
                  <a:schemeClr val="bg1">
                    <a:lumMod val="95000"/>
                    <a:lumOff val="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h="165100"/>
            </a:sp3d>
          </c:spPr>
          <c:invertIfNegative val="0"/>
          <c:dLbls>
            <c:spPr>
              <a:solidFill>
                <a:schemeClr val="bg1">
                  <a:lumMod val="95000"/>
                  <a:lumOff val="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etal">
                <a:bevelT prst="relaxedInset"/>
              </a:sp3d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Unibic</c:v>
                </c:pt>
                <c:pt idx="1">
                  <c:v>Little Hearts</c:v>
                </c:pt>
                <c:pt idx="2">
                  <c:v>Oreo</c:v>
                </c:pt>
                <c:pt idx="3">
                  <c:v>Tiger</c:v>
                </c:pt>
                <c:pt idx="4">
                  <c:v>Britannia</c:v>
                </c:pt>
                <c:pt idx="5">
                  <c:v>Malkist</c:v>
                </c:pt>
                <c:pt idx="6">
                  <c:v>Good Day</c:v>
                </c:pt>
                <c:pt idx="7">
                  <c:v>Marie Gold</c:v>
                </c:pt>
                <c:pt idx="8">
                  <c:v>Parle</c:v>
                </c:pt>
                <c:pt idx="9">
                  <c:v>Sunfeast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13973760</c:v>
                </c:pt>
                <c:pt idx="1">
                  <c:v>11579220</c:v>
                </c:pt>
                <c:pt idx="2">
                  <c:v>8983660</c:v>
                </c:pt>
                <c:pt idx="3">
                  <c:v>6606313</c:v>
                </c:pt>
                <c:pt idx="4">
                  <c:v>6562820</c:v>
                </c:pt>
                <c:pt idx="5">
                  <c:v>4071340</c:v>
                </c:pt>
                <c:pt idx="6">
                  <c:v>3436081</c:v>
                </c:pt>
                <c:pt idx="7">
                  <c:v>2650644</c:v>
                </c:pt>
                <c:pt idx="8">
                  <c:v>2218230</c:v>
                </c:pt>
                <c:pt idx="9">
                  <c:v>1485815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3-4661-879E-AEF98D839A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51594415"/>
        <c:axId val="762883631"/>
      </c:barChart>
      <c:catAx>
        <c:axId val="7515944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883631"/>
        <c:crosses val="autoZero"/>
        <c:auto val="1"/>
        <c:lblAlgn val="ctr"/>
        <c:lblOffset val="100"/>
        <c:noMultiLvlLbl val="0"/>
      </c:catAx>
      <c:valAx>
        <c:axId val="762883631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1594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>
                <a:latin typeface="Adobe Caslon Pro Bold" panose="0205070206050A020403" pitchFamily="18" charset="0"/>
              </a:rPr>
              <a:t>Total</a:t>
            </a:r>
            <a:r>
              <a:rPr lang="en-IN" baseline="0" dirty="0">
                <a:latin typeface="Adobe Caslon Pro Bold" panose="0205070206050A020403" pitchFamily="18" charset="0"/>
              </a:rPr>
              <a:t> Profit by Product</a:t>
            </a:r>
            <a:endParaRPr lang="en-IN" dirty="0">
              <a:latin typeface="Adobe Caslon Pro Bold" panose="0205070206050A020403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>
              <a:gsLst>
                <a:gs pos="0">
                  <a:schemeClr val="tx2"/>
                </a:gs>
                <a:gs pos="23000">
                  <a:schemeClr val="tx2">
                    <a:lumMod val="90000"/>
                  </a:schemeClr>
                </a:gs>
                <a:gs pos="69000">
                  <a:schemeClr val="tx2">
                    <a:lumMod val="50000"/>
                  </a:schemeClr>
                </a:gs>
                <a:gs pos="97000">
                  <a:schemeClr val="bg1">
                    <a:lumMod val="95000"/>
                    <a:lumOff val="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c:spPr>
          <c:invertIfNegative val="0"/>
          <c:dLbls>
            <c:spPr>
              <a:solidFill>
                <a:schemeClr val="bg1">
                  <a:lumMod val="95000"/>
                  <a:lumOff val="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etal">
                <a:bevelT prst="relaxedInset"/>
              </a:sp3d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Unibic</c:v>
                </c:pt>
                <c:pt idx="1">
                  <c:v>Little Hearts</c:v>
                </c:pt>
                <c:pt idx="2">
                  <c:v>Oreo</c:v>
                </c:pt>
                <c:pt idx="3">
                  <c:v>Britannia</c:v>
                </c:pt>
                <c:pt idx="4">
                  <c:v>Malkist</c:v>
                </c:pt>
                <c:pt idx="5">
                  <c:v>Tiger</c:v>
                </c:pt>
                <c:pt idx="6">
                  <c:v>Parle</c:v>
                </c:pt>
                <c:pt idx="7">
                  <c:v>Sunfeast</c:v>
                </c:pt>
                <c:pt idx="8">
                  <c:v>Marie Gold</c:v>
                </c:pt>
                <c:pt idx="9">
                  <c:v>Good Day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10868480</c:v>
                </c:pt>
                <c:pt idx="1">
                  <c:v>5789610</c:v>
                </c:pt>
                <c:pt idx="2">
                  <c:v>4491830</c:v>
                </c:pt>
                <c:pt idx="3">
                  <c:v>1193240</c:v>
                </c:pt>
                <c:pt idx="4">
                  <c:v>1163240</c:v>
                </c:pt>
                <c:pt idx="5">
                  <c:v>1148924</c:v>
                </c:pt>
                <c:pt idx="6">
                  <c:v>633780</c:v>
                </c:pt>
                <c:pt idx="7">
                  <c:v>594326</c:v>
                </c:pt>
                <c:pt idx="8">
                  <c:v>589032</c:v>
                </c:pt>
                <c:pt idx="9">
                  <c:v>312371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49-49C0-8DE2-2D46CC627E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Unibic</c:v>
                </c:pt>
                <c:pt idx="1">
                  <c:v>Little Hearts</c:v>
                </c:pt>
                <c:pt idx="2">
                  <c:v>Oreo</c:v>
                </c:pt>
                <c:pt idx="3">
                  <c:v>Britannia</c:v>
                </c:pt>
                <c:pt idx="4">
                  <c:v>Malkist</c:v>
                </c:pt>
                <c:pt idx="5">
                  <c:v>Tiger</c:v>
                </c:pt>
                <c:pt idx="6">
                  <c:v>Parle</c:v>
                </c:pt>
                <c:pt idx="7">
                  <c:v>Sunfeast</c:v>
                </c:pt>
                <c:pt idx="8">
                  <c:v>Marie Gold</c:v>
                </c:pt>
                <c:pt idx="9">
                  <c:v>Good Day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1-C749-49C0-8DE2-2D46CC627E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Unibic</c:v>
                </c:pt>
                <c:pt idx="1">
                  <c:v>Little Hearts</c:v>
                </c:pt>
                <c:pt idx="2">
                  <c:v>Oreo</c:v>
                </c:pt>
                <c:pt idx="3">
                  <c:v>Britannia</c:v>
                </c:pt>
                <c:pt idx="4">
                  <c:v>Malkist</c:v>
                </c:pt>
                <c:pt idx="5">
                  <c:v>Tiger</c:v>
                </c:pt>
                <c:pt idx="6">
                  <c:v>Parle</c:v>
                </c:pt>
                <c:pt idx="7">
                  <c:v>Sunfeast</c:v>
                </c:pt>
                <c:pt idx="8">
                  <c:v>Marie Gold</c:v>
                </c:pt>
                <c:pt idx="9">
                  <c:v>Good Day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2-C749-49C0-8DE2-2D46CC627E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3366623"/>
        <c:axId val="741379967"/>
      </c:barChart>
      <c:catAx>
        <c:axId val="653366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>
              <a:lumMod val="95000"/>
              <a:lumOff val="5000"/>
            </a:schemeClr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1379967"/>
        <c:crosses val="autoZero"/>
        <c:auto val="1"/>
        <c:lblAlgn val="ctr"/>
        <c:lblOffset val="100"/>
        <c:noMultiLvlLbl val="0"/>
      </c:catAx>
      <c:valAx>
        <c:axId val="741379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336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Adobe Caslon Pro Bold" panose="0205070206050A020403" pitchFamily="18" charset="0"/>
              </a:rPr>
              <a:t>Profit</a:t>
            </a:r>
            <a:r>
              <a:rPr lang="en-US" sz="1800" b="1" baseline="0" dirty="0">
                <a:latin typeface="Adobe Caslon Pro Bold" panose="0205070206050A020403" pitchFamily="18" charset="0"/>
              </a:rPr>
              <a:t> Margin % by Product</a:t>
            </a:r>
            <a:endParaRPr lang="en-US" sz="1800" b="1" dirty="0">
              <a:latin typeface="Adobe Caslon Pro Bold" panose="0205070206050A020403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of Profit Margin%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0">
                    <a:schemeClr val="tx2"/>
                  </a:gs>
                  <a:gs pos="23000">
                    <a:schemeClr val="tx2">
                      <a:lumMod val="90000"/>
                    </a:schemeClr>
                  </a:gs>
                  <a:gs pos="69000">
                    <a:schemeClr val="tx2">
                      <a:lumMod val="50000"/>
                    </a:schemeClr>
                  </a:gs>
                  <a:gs pos="97000">
                    <a:schemeClr val="bg1">
                      <a:lumMod val="95000"/>
                      <a:lumOff val="500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693-475C-997E-D6A8EB785BA8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  <a:lumOff val="1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D693-475C-997E-D6A8EB785BA8}"/>
              </c:ext>
            </c:extLst>
          </c:dPt>
          <c:dPt>
            <c:idx val="2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693-475C-997E-D6A8EB785BA8}"/>
              </c:ext>
            </c:extLst>
          </c:dPt>
          <c:dPt>
            <c:idx val="3"/>
            <c:bubble3D val="0"/>
            <c:spPr>
              <a:solidFill>
                <a:schemeClr val="accent3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D693-475C-997E-D6A8EB785BA8}"/>
              </c:ext>
            </c:extLst>
          </c:dPt>
          <c:dPt>
            <c:idx val="4"/>
            <c:bubble3D val="0"/>
            <c:spPr>
              <a:solidFill>
                <a:schemeClr val="tx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693-475C-997E-D6A8EB785BA8}"/>
              </c:ext>
            </c:extLst>
          </c:dPt>
          <c:dPt>
            <c:idx val="5"/>
            <c:bubble3D val="0"/>
            <c:spPr>
              <a:solidFill>
                <a:schemeClr val="tx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D693-475C-997E-D6A8EB785BA8}"/>
              </c:ext>
            </c:extLst>
          </c:dPt>
          <c:dPt>
            <c:idx val="6"/>
            <c:bubble3D val="0"/>
            <c:spPr>
              <a:solidFill>
                <a:schemeClr val="tx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693-475C-997E-D6A8EB785BA8}"/>
              </c:ext>
            </c:extLst>
          </c:dPt>
          <c:dPt>
            <c:idx val="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D693-475C-997E-D6A8EB785BA8}"/>
              </c:ext>
            </c:extLst>
          </c:dPt>
          <c:dPt>
            <c:idx val="8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693-475C-997E-D6A8EB785BA8}"/>
              </c:ext>
            </c:extLst>
          </c:dPt>
          <c:dPt>
            <c:idx val="9"/>
            <c:bubble3D val="0"/>
            <c:spPr>
              <a:gradFill>
                <a:gsLst>
                  <a:gs pos="0">
                    <a:schemeClr val="tx2"/>
                  </a:gs>
                  <a:gs pos="23000">
                    <a:schemeClr val="tx2">
                      <a:lumMod val="90000"/>
                    </a:schemeClr>
                  </a:gs>
                  <a:gs pos="69000">
                    <a:schemeClr val="tx2">
                      <a:lumMod val="50000"/>
                    </a:schemeClr>
                  </a:gs>
                  <a:gs pos="97000">
                    <a:schemeClr val="bg1">
                      <a:lumMod val="95000"/>
                      <a:lumOff val="500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D693-475C-997E-D6A8EB785BA8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0B8C-4A06-B308-81609A36DF4E}"/>
              </c:ext>
            </c:extLst>
          </c:dPt>
          <c:dLbls>
            <c:spPr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Sheet1!$A$2:$A$12</c:f>
              <c:strCache>
                <c:ptCount val="10"/>
                <c:pt idx="0">
                  <c:v>Unibic</c:v>
                </c:pt>
                <c:pt idx="1">
                  <c:v>Oreo</c:v>
                </c:pt>
                <c:pt idx="2">
                  <c:v>Little Hearts</c:v>
                </c:pt>
                <c:pt idx="3">
                  <c:v>Sunfeast</c:v>
                </c:pt>
                <c:pt idx="4">
                  <c:v>Malkist</c:v>
                </c:pt>
                <c:pt idx="5">
                  <c:v>Parle</c:v>
                </c:pt>
                <c:pt idx="6">
                  <c:v>Marie Gold</c:v>
                </c:pt>
                <c:pt idx="7">
                  <c:v>Britannia</c:v>
                </c:pt>
                <c:pt idx="8">
                  <c:v>Tiger</c:v>
                </c:pt>
                <c:pt idx="9">
                  <c:v>Good Day</c:v>
                </c:pt>
              </c:strCache>
            </c:strRef>
          </c:cat>
          <c:val>
            <c:numRef>
              <c:f>Sheet1!$B$2:$B$12</c:f>
              <c:numCache>
                <c:formatCode>0.00%</c:formatCode>
                <c:ptCount val="11"/>
                <c:pt idx="0">
                  <c:v>0.77780000000000005</c:v>
                </c:pt>
                <c:pt idx="1">
                  <c:v>0.5</c:v>
                </c:pt>
                <c:pt idx="2">
                  <c:v>0.5</c:v>
                </c:pt>
                <c:pt idx="3">
                  <c:v>0.4</c:v>
                </c:pt>
                <c:pt idx="4">
                  <c:v>0.28570000000000001</c:v>
                </c:pt>
                <c:pt idx="5">
                  <c:v>0.28570000000000001</c:v>
                </c:pt>
                <c:pt idx="6">
                  <c:v>0.22220000000000001</c:v>
                </c:pt>
                <c:pt idx="7">
                  <c:v>0.18179999999999999</c:v>
                </c:pt>
                <c:pt idx="8">
                  <c:v>0.1739</c:v>
                </c:pt>
                <c:pt idx="9">
                  <c:v>9.0899999999999995E-2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93-475C-997E-D6A8EB785BA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75"/>
      <c:rotY val="325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9.4727731454156153E-2"/>
          <c:w val="0.99156770477405687"/>
          <c:h val="0.84319604883057719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dPt>
            <c:idx val="0"/>
            <c:bubble3D val="0"/>
            <c:spPr>
              <a:solidFill>
                <a:schemeClr val="tx2">
                  <a:lumMod val="1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26C-4938-A8E8-E5B6CBB65177}"/>
              </c:ext>
            </c:extLst>
          </c:dPt>
          <c:dPt>
            <c:idx val="1"/>
            <c:bubble3D val="0"/>
            <c:explosion val="1"/>
            <c:spPr>
              <a:solidFill>
                <a:schemeClr val="tx2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A26C-4938-A8E8-E5B6CBB65177}"/>
              </c:ext>
            </c:extLst>
          </c:dPt>
          <c:dPt>
            <c:idx val="2"/>
            <c:bubble3D val="0"/>
            <c:spPr>
              <a:solidFill>
                <a:schemeClr val="tx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26C-4938-A8E8-E5B6CBB65177}"/>
              </c:ext>
            </c:extLst>
          </c:dPt>
          <c:dLbls>
            <c:numFmt formatCode="#,##0" sourceLinked="0"/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51966838</c:v>
                </c:pt>
                <c:pt idx="1">
                  <c:v>5844566</c:v>
                </c:pt>
                <c:pt idx="2">
                  <c:v>3756479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6C-4938-A8E8-E5B6CBB65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750164041994751"/>
          <c:y val="0.24473507408188766"/>
          <c:w val="0.1154416169184958"/>
          <c:h val="0.30112063425365204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17437664041994"/>
          <c:y val="3.0111173175110164E-2"/>
          <c:w val="0.83932562335958005"/>
          <c:h val="0.72186680575349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gradFill>
              <a:gsLst>
                <a:gs pos="0">
                  <a:schemeClr val="tx2"/>
                </a:gs>
                <a:gs pos="23000">
                  <a:schemeClr val="tx2">
                    <a:lumMod val="90000"/>
                  </a:schemeClr>
                </a:gs>
                <a:gs pos="69000">
                  <a:schemeClr val="tx2">
                    <a:lumMod val="50000"/>
                  </a:schemeClr>
                </a:gs>
                <a:gs pos="97000">
                  <a:schemeClr val="bg1">
                    <a:lumMod val="95000"/>
                    <a:lumOff val="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-540000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6"/>
                <c:pt idx="0">
                  <c:v>18-28</c:v>
                </c:pt>
                <c:pt idx="1">
                  <c:v>29-38</c:v>
                </c:pt>
                <c:pt idx="2">
                  <c:v>39-48</c:v>
                </c:pt>
                <c:pt idx="3">
                  <c:v>49-58</c:v>
                </c:pt>
                <c:pt idx="4">
                  <c:v>59-68</c:v>
                </c:pt>
                <c:pt idx="5">
                  <c:v>69+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8586611</c:v>
                </c:pt>
                <c:pt idx="1">
                  <c:v>9997884</c:v>
                </c:pt>
                <c:pt idx="2">
                  <c:v>9722393</c:v>
                </c:pt>
                <c:pt idx="3">
                  <c:v>9482226</c:v>
                </c:pt>
                <c:pt idx="4">
                  <c:v>9565694</c:v>
                </c:pt>
                <c:pt idx="5">
                  <c:v>14213075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B-4E4D-B723-C323993E0F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Quantity Purchased</c:v>
                </c:pt>
              </c:strCache>
            </c:strRef>
          </c:tx>
          <c:spPr>
            <a:gradFill>
              <a:gsLst>
                <a:gs pos="0">
                  <a:schemeClr val="tx2"/>
                </a:gs>
                <a:gs pos="23000">
                  <a:schemeClr val="tx1"/>
                </a:gs>
                <a:gs pos="69000">
                  <a:schemeClr val="tx1"/>
                </a:gs>
                <a:gs pos="97000">
                  <a:schemeClr val="tx1"/>
                </a:gs>
              </a:gsLst>
              <a:path path="shape">
                <a:fillToRect l="50000" t="50000" r="50000" b="50000"/>
              </a:path>
            </a:gra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#,##0" sourceLinked="0"/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-5400000" spcFirstLastPara="1" vertOverflow="ellipsis" vert="horz" wrap="square" lIns="38100" tIns="19050" rIns="38100" bIns="19050" anchor="b" anchorCtr="0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6"/>
                <c:pt idx="0">
                  <c:v>18-28</c:v>
                </c:pt>
                <c:pt idx="1">
                  <c:v>29-38</c:v>
                </c:pt>
                <c:pt idx="2">
                  <c:v>39-48</c:v>
                </c:pt>
                <c:pt idx="3">
                  <c:v>49-58</c:v>
                </c:pt>
                <c:pt idx="4">
                  <c:v>59-68</c:v>
                </c:pt>
                <c:pt idx="5">
                  <c:v>69+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426212</c:v>
                </c:pt>
                <c:pt idx="1">
                  <c:v>486782</c:v>
                </c:pt>
                <c:pt idx="2">
                  <c:v>480527</c:v>
                </c:pt>
                <c:pt idx="3">
                  <c:v>500108</c:v>
                </c:pt>
                <c:pt idx="4">
                  <c:v>465756</c:v>
                </c:pt>
                <c:pt idx="5">
                  <c:v>690924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BB-4E4D-B723-C323993E0F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02433696"/>
        <c:axId val="1433524304"/>
      </c:barChart>
      <c:catAx>
        <c:axId val="1202433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524304"/>
        <c:crosses val="autoZero"/>
        <c:auto val="1"/>
        <c:lblAlgn val="ctr"/>
        <c:lblOffset val="100"/>
        <c:noMultiLvlLbl val="0"/>
      </c:catAx>
      <c:valAx>
        <c:axId val="1433524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433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996801181102363"/>
          <c:y val="0.86206256375669454"/>
          <c:w val="0.66756973003346542"/>
          <c:h val="9.0850744306884321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18181A"/>
                </a:highlight>
                <a:latin typeface="+mn-lt"/>
                <a:ea typeface="+mn-ea"/>
                <a:cs typeface="+mn-cs"/>
              </a:defRPr>
            </a:pPr>
            <a:r>
              <a:rPr lang="en-US" dirty="0">
                <a:highlight>
                  <a:srgbClr val="18181A"/>
                </a:highlight>
                <a:latin typeface="Adobe Caslon Pro Bold" panose="0205070206050A020403" pitchFamily="18" charset="0"/>
              </a:rPr>
              <a:t>Revenue by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highlight>
                <a:srgbClr val="18181A"/>
              </a:highligh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851669904558765"/>
          <c:y val="0.14038429986489137"/>
          <c:w val="0.77960646082766449"/>
          <c:h val="0.583999375789918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>
              <a:gsLst>
                <a:gs pos="0">
                  <a:schemeClr val="tx2"/>
                </a:gs>
                <a:gs pos="23000">
                  <a:schemeClr val="tx2">
                    <a:lumMod val="90000"/>
                  </a:schemeClr>
                </a:gs>
                <a:gs pos="69000">
                  <a:schemeClr val="tx2">
                    <a:lumMod val="50000"/>
                  </a:schemeClr>
                </a:gs>
                <a:gs pos="97000">
                  <a:schemeClr val="bg1">
                    <a:lumMod val="95000"/>
                    <a:lumOff val="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18181A"/>
                    </a:highlight>
                    <a:latin typeface="Adobe Caslon Pro Bold" panose="0205070206050A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San Antonio</c:v>
                </c:pt>
                <c:pt idx="1">
                  <c:v>San Jose</c:v>
                </c:pt>
                <c:pt idx="2">
                  <c:v>Philadelphia</c:v>
                </c:pt>
                <c:pt idx="3">
                  <c:v>Houston</c:v>
                </c:pt>
                <c:pt idx="4">
                  <c:v>Dallas</c:v>
                </c:pt>
                <c:pt idx="5">
                  <c:v>Los Angeles</c:v>
                </c:pt>
                <c:pt idx="6">
                  <c:v>San Diego</c:v>
                </c:pt>
                <c:pt idx="7">
                  <c:v>New York</c:v>
                </c:pt>
                <c:pt idx="8">
                  <c:v>Phoenix</c:v>
                </c:pt>
                <c:pt idx="9">
                  <c:v>Chicago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7343282</c:v>
                </c:pt>
                <c:pt idx="1">
                  <c:v>6343424</c:v>
                </c:pt>
                <c:pt idx="2">
                  <c:v>6315796</c:v>
                </c:pt>
                <c:pt idx="3">
                  <c:v>6179951</c:v>
                </c:pt>
                <c:pt idx="4">
                  <c:v>6128566</c:v>
                </c:pt>
                <c:pt idx="5">
                  <c:v>6066717</c:v>
                </c:pt>
                <c:pt idx="6">
                  <c:v>6036613</c:v>
                </c:pt>
                <c:pt idx="7">
                  <c:v>5776850</c:v>
                </c:pt>
                <c:pt idx="8">
                  <c:v>5710119</c:v>
                </c:pt>
                <c:pt idx="9">
                  <c:v>5666565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7B-4821-A2C1-CDE20C7085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7"/>
        <c:overlap val="-19"/>
        <c:axId val="1429202992"/>
        <c:axId val="1433508080"/>
      </c:barChart>
      <c:catAx>
        <c:axId val="142920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18181A"/>
                </a:highlight>
                <a:latin typeface="Adobe Caslon Pro Bold" panose="0205070206050A020403" pitchFamily="18" charset="0"/>
                <a:ea typeface="+mn-ea"/>
                <a:cs typeface="+mn-cs"/>
              </a:defRPr>
            </a:pPr>
            <a:endParaRPr lang="en-US"/>
          </a:p>
        </c:txPr>
        <c:crossAx val="1433508080"/>
        <c:crosses val="autoZero"/>
        <c:auto val="1"/>
        <c:lblAlgn val="ctr"/>
        <c:lblOffset val="100"/>
        <c:noMultiLvlLbl val="0"/>
      </c:catAx>
      <c:valAx>
        <c:axId val="1433508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18181A"/>
                </a:highlight>
                <a:latin typeface="Adobe Caslon Pro Bold" panose="0205070206050A020403" pitchFamily="18" charset="0"/>
                <a:ea typeface="+mn-ea"/>
                <a:cs typeface="+mn-cs"/>
              </a:defRPr>
            </a:pPr>
            <a:endParaRPr lang="en-US"/>
          </a:p>
        </c:txPr>
        <c:crossAx val="1429202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obe Caslon Pro Bold" panose="0205070206050A0204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highlight>
                  <a:srgbClr val="18181A"/>
                </a:highlight>
                <a:latin typeface="Adobe Caslon Pro Bold" panose="0205070206050A020403" pitchFamily="18" charset="0"/>
              </a:rPr>
              <a:t>Quantity Sold By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679294233127695"/>
          <c:y val="0.16705961818846313"/>
          <c:w val="0.80687564309687176"/>
          <c:h val="0.587213317390248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 Purchased</c:v>
                </c:pt>
              </c:strCache>
            </c:strRef>
          </c:tx>
          <c:spPr>
            <a:ln w="28575" cap="rnd">
              <a:solidFill>
                <a:schemeClr val="tx2">
                  <a:lumMod val="25000"/>
                </a:schemeClr>
              </a:solidFill>
              <a:round/>
            </a:ln>
            <a:effectLst/>
          </c:spPr>
          <c:marker>
            <c:symbol val="none"/>
          </c:marker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18181A"/>
                    </a:highlight>
                    <a:latin typeface="Adobe Caslon Pro Bold" panose="0205070206050A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San Antonio</c:v>
                </c:pt>
                <c:pt idx="1">
                  <c:v>San Jose</c:v>
                </c:pt>
                <c:pt idx="2">
                  <c:v>Philadelphia</c:v>
                </c:pt>
                <c:pt idx="3">
                  <c:v>Houston</c:v>
                </c:pt>
                <c:pt idx="4">
                  <c:v>Dallas</c:v>
                </c:pt>
                <c:pt idx="5">
                  <c:v>Los Angeles</c:v>
                </c:pt>
                <c:pt idx="6">
                  <c:v>San Diego</c:v>
                </c:pt>
                <c:pt idx="7">
                  <c:v>New York</c:v>
                </c:pt>
                <c:pt idx="8">
                  <c:v>Phoenix</c:v>
                </c:pt>
                <c:pt idx="9">
                  <c:v>Chicago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345102</c:v>
                </c:pt>
                <c:pt idx="1">
                  <c:v>318943</c:v>
                </c:pt>
                <c:pt idx="2">
                  <c:v>319783</c:v>
                </c:pt>
                <c:pt idx="3">
                  <c:v>317837</c:v>
                </c:pt>
                <c:pt idx="4">
                  <c:v>298444</c:v>
                </c:pt>
                <c:pt idx="5">
                  <c:v>289280</c:v>
                </c:pt>
                <c:pt idx="6">
                  <c:v>298682</c:v>
                </c:pt>
                <c:pt idx="7">
                  <c:v>291610</c:v>
                </c:pt>
                <c:pt idx="8">
                  <c:v>286173</c:v>
                </c:pt>
                <c:pt idx="9">
                  <c:v>284455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0E-4E53-850D-A4A2BAE20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0523152"/>
        <c:axId val="1490999664"/>
      </c:lineChart>
      <c:catAx>
        <c:axId val="1580523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highlight>
                  <a:srgbClr val="18181A"/>
                </a:highlight>
                <a:latin typeface="Adobe Caslon Pro Bold" panose="0205070206050A020403" pitchFamily="18" charset="0"/>
                <a:ea typeface="+mn-ea"/>
                <a:cs typeface="+mn-cs"/>
              </a:defRPr>
            </a:pPr>
            <a:endParaRPr lang="en-US"/>
          </a:p>
        </c:txPr>
        <c:crossAx val="1490999664"/>
        <c:crosses val="autoZero"/>
        <c:auto val="1"/>
        <c:lblAlgn val="ctr"/>
        <c:lblOffset val="100"/>
        <c:noMultiLvlLbl val="0"/>
      </c:catAx>
      <c:valAx>
        <c:axId val="149099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18181A"/>
                </a:highlight>
                <a:latin typeface="Adobe Caslon Pro Bold" panose="0205070206050A020403" pitchFamily="18" charset="0"/>
                <a:ea typeface="+mn-ea"/>
                <a:cs typeface="+mn-cs"/>
              </a:defRPr>
            </a:pPr>
            <a:endParaRPr lang="en-US"/>
          </a:p>
        </c:txPr>
        <c:crossAx val="1580523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obe Caslon Pro Bold" panose="0205070206050A0204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dobe Caslon Pro Bold" panose="0205070206050A020403" pitchFamily="18" charset="0"/>
                <a:ea typeface="+mn-ea"/>
                <a:cs typeface="+mn-cs"/>
              </a:defRPr>
            </a:pPr>
            <a:r>
              <a:rPr lang="en-US" sz="1800" dirty="0">
                <a:highlight>
                  <a:srgbClr val="18181A"/>
                </a:highlight>
                <a:latin typeface="Adobe Caslon Pro Bold" panose="0205070206050A020403" pitchFamily="18" charset="0"/>
              </a:rPr>
              <a:t>Profit</a:t>
            </a:r>
            <a:r>
              <a:rPr lang="en-US" sz="1800" baseline="0" dirty="0">
                <a:highlight>
                  <a:srgbClr val="18181A"/>
                </a:highlight>
                <a:latin typeface="Adobe Caslon Pro Bold" panose="0205070206050A020403" pitchFamily="18" charset="0"/>
              </a:rPr>
              <a:t> Margin % by Location</a:t>
            </a:r>
            <a:endParaRPr lang="en-US" sz="1800" dirty="0">
              <a:highlight>
                <a:srgbClr val="18181A"/>
              </a:highlight>
              <a:latin typeface="Adobe Caslon Pro Bold" panose="0205070206050A020403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dobe Caslon Pro Bold" panose="0205070206050A0204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714221400304086"/>
          <c:y val="0.14236675731344181"/>
          <c:w val="0.69074262141171039"/>
          <c:h val="0.6546591404471445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gradFill>
              <a:gsLst>
                <a:gs pos="0">
                  <a:schemeClr val="tx2"/>
                </a:gs>
                <a:gs pos="23000">
                  <a:schemeClr val="tx2">
                    <a:lumMod val="90000"/>
                  </a:schemeClr>
                </a:gs>
                <a:gs pos="69000">
                  <a:schemeClr val="tx2">
                    <a:lumMod val="50000"/>
                  </a:schemeClr>
                </a:gs>
                <a:gs pos="97000">
                  <a:schemeClr val="bg1">
                    <a:lumMod val="95000"/>
                    <a:lumOff val="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18181A"/>
                    </a:highligh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San Antonio</c:v>
                </c:pt>
                <c:pt idx="1">
                  <c:v>San Jose</c:v>
                </c:pt>
                <c:pt idx="2">
                  <c:v>Philadelphia</c:v>
                </c:pt>
                <c:pt idx="3">
                  <c:v>Houston</c:v>
                </c:pt>
                <c:pt idx="4">
                  <c:v>Dallas</c:v>
                </c:pt>
                <c:pt idx="5">
                  <c:v>Los Angeles</c:v>
                </c:pt>
                <c:pt idx="6">
                  <c:v>San Diego</c:v>
                </c:pt>
                <c:pt idx="7">
                  <c:v>New York</c:v>
                </c:pt>
                <c:pt idx="8">
                  <c:v>Phoenix</c:v>
                </c:pt>
                <c:pt idx="9">
                  <c:v>Chicago</c:v>
                </c:pt>
              </c:strCache>
            </c:str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0.35930000000000001</c:v>
                </c:pt>
                <c:pt idx="1">
                  <c:v>0.34699999999999998</c:v>
                </c:pt>
                <c:pt idx="2">
                  <c:v>0.35020000000000001</c:v>
                </c:pt>
                <c:pt idx="3">
                  <c:v>0.33560000000000001</c:v>
                </c:pt>
                <c:pt idx="4">
                  <c:v>0.34939999999999999</c:v>
                </c:pt>
                <c:pt idx="5">
                  <c:v>0.35189999999999999</c:v>
                </c:pt>
                <c:pt idx="6">
                  <c:v>0.3503</c:v>
                </c:pt>
                <c:pt idx="7">
                  <c:v>0.34420000000000001</c:v>
                </c:pt>
                <c:pt idx="8">
                  <c:v>0.34399999999999997</c:v>
                </c:pt>
                <c:pt idx="9">
                  <c:v>0.33179999999999998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C4-4E51-B50F-8F17E6A17F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8317424"/>
        <c:axId val="1491021712"/>
      </c:barChart>
      <c:catAx>
        <c:axId val="1198317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18181A"/>
                </a:highligh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1021712"/>
        <c:crosses val="autoZero"/>
        <c:auto val="1"/>
        <c:lblAlgn val="ctr"/>
        <c:lblOffset val="100"/>
        <c:noMultiLvlLbl val="0"/>
      </c:catAx>
      <c:valAx>
        <c:axId val="14910217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54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18181A"/>
                </a:highligh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8317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143815288494828"/>
          <c:y val="0.93331112868551391"/>
          <c:w val="0.3629197120073282"/>
          <c:h val="6.66889657896025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3067220936274996E-4"/>
          <c:y val="0.12861899269124408"/>
          <c:w val="0.99966932779063722"/>
          <c:h val="0.67099181143980657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8BC-47C0-BCA3-CDDC506472C9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48BC-47C0-BCA3-CDDC506472C9}"/>
              </c:ext>
            </c:extLst>
          </c:dPt>
          <c:dPt>
            <c:idx val="2"/>
            <c:bubble3D val="0"/>
            <c:spPr>
              <a:solidFill>
                <a:schemeClr val="tx2">
                  <a:lumMod val="2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8BC-47C0-BCA3-CDDC506472C9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48BC-47C0-BCA3-CDDC506472C9}"/>
              </c:ext>
            </c:extLst>
          </c:dPt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18181A"/>
                    </a:highlight>
                    <a:latin typeface="Adobe Caslon Pro" panose="0205050205050A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Debit Card</c:v>
                </c:pt>
                <c:pt idx="1">
                  <c:v>Mobile Payment</c:v>
                </c:pt>
                <c:pt idx="2">
                  <c:v>Credit Card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15620114</c:v>
                </c:pt>
                <c:pt idx="1">
                  <c:v>15461629</c:v>
                </c:pt>
                <c:pt idx="2">
                  <c:v>15248942</c:v>
                </c:pt>
                <c:pt idx="3">
                  <c:v>15237198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BC-47C0-BCA3-CDDC506472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3772416287134075E-2"/>
          <c:y val="0.79600219730149524"/>
          <c:w val="0.94999990821460889"/>
          <c:h val="8.98459849293326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593360563398964"/>
          <c:y val="7.9145429991650917E-2"/>
          <c:w val="0.86083035232461202"/>
          <c:h val="0.5935744349337873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Order</c:v>
                </c:pt>
              </c:strCache>
            </c:strRef>
          </c:tx>
          <c:spPr>
            <a:gradFill>
              <a:gsLst>
                <a:gs pos="0">
                  <a:schemeClr val="tx2"/>
                </a:gs>
                <a:gs pos="23000">
                  <a:schemeClr val="tx2">
                    <a:lumMod val="90000"/>
                  </a:schemeClr>
                </a:gs>
                <a:gs pos="69000">
                  <a:schemeClr val="tx2">
                    <a:lumMod val="50000"/>
                  </a:schemeClr>
                </a:gs>
                <a:gs pos="97000">
                  <a:schemeClr val="bg1">
                    <a:lumMod val="95000"/>
                    <a:lumOff val="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sp3d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BEDE-4D64-A74F-CDF95BD75FE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BEDE-4D64-A74F-CDF95BD75FEF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BEDE-4D64-A74F-CDF95BD75FEF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EDE-4D64-A74F-CDF95BD75F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Mobile Payment</c:v>
                </c:pt>
                <c:pt idx="1">
                  <c:v>Debit Card</c:v>
                </c:pt>
                <c:pt idx="2">
                  <c:v>Credit Card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3038</c:v>
                </c:pt>
                <c:pt idx="1">
                  <c:v>3008</c:v>
                </c:pt>
                <c:pt idx="2">
                  <c:v>2978</c:v>
                </c:pt>
                <c:pt idx="3">
                  <c:v>2976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DE-4D64-A74F-CDF95BD75F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32485328"/>
        <c:axId val="1416479344"/>
        <c:axId val="0"/>
      </c:bar3DChart>
      <c:catAx>
        <c:axId val="1432485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479344"/>
        <c:crosses val="autoZero"/>
        <c:auto val="1"/>
        <c:lblAlgn val="ctr"/>
        <c:lblOffset val="100"/>
        <c:noMultiLvlLbl val="0"/>
      </c:catAx>
      <c:valAx>
        <c:axId val="1416479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highlight>
                  <a:srgbClr val="18181A"/>
                </a:highligh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48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152318145465862"/>
          <c:y val="0.79600212677839399"/>
          <c:w val="0.29925007249269631"/>
          <c:h val="8.9846015989556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b="1" u="sng" dirty="0">
                <a:solidFill>
                  <a:schemeClr val="tx1"/>
                </a:solidFill>
                <a:latin typeface="Adobe Caslon Pro" panose="0205050205050A020403" pitchFamily="18" charset="0"/>
              </a:rPr>
              <a:t>3.Order</a:t>
            </a:r>
            <a:r>
              <a:rPr lang="en-IN" b="1" u="sng" baseline="0" dirty="0">
                <a:solidFill>
                  <a:schemeClr val="tx1"/>
                </a:solidFill>
                <a:latin typeface="Adobe Caslon Pro" panose="0205050205050A020403" pitchFamily="18" charset="0"/>
              </a:rPr>
              <a:t> Volume &amp; Gender </a:t>
            </a:r>
            <a:endParaRPr lang="en-IN" b="1" u="sng" dirty="0">
              <a:solidFill>
                <a:schemeClr val="tx1"/>
              </a:solidFill>
              <a:latin typeface="Adobe Caslon Pro" panose="0205050205050A020403" pitchFamily="18" charset="0"/>
            </a:endParaRPr>
          </a:p>
        </c:rich>
      </c:tx>
      <c:layout>
        <c:manualLayout>
          <c:xMode val="edge"/>
          <c:yMode val="edge"/>
          <c:x val="0.23552291973000411"/>
          <c:y val="1.9841263641649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116015816458589"/>
          <c:y val="0.19486745567196112"/>
          <c:w val="0.82600564663725851"/>
          <c:h val="0.61712454158088315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chemeClr val="tx2">
                <a:lumMod val="2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0106946791794148E-2"/>
                  <c:y val="9.65900330425031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F4-4EE3-946E-8D5BE1C8318A}"/>
                </c:ext>
              </c:extLst>
            </c:dLbl>
            <c:dLbl>
              <c:idx val="1"/>
              <c:layout>
                <c:manualLayout>
                  <c:x val="1.759357844281988E-2"/>
                  <c:y val="4.39045604738650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FF4-4EE3-946E-8D5BE1C8318A}"/>
                </c:ext>
              </c:extLst>
            </c:dLbl>
            <c:dLbl>
              <c:idx val="2"/>
              <c:layout>
                <c:manualLayout>
                  <c:x val="2.010694679179414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FF4-4EE3-946E-8D5BE1C831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18181A"/>
                    </a:highligh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2533</c:v>
                </c:pt>
                <c:pt idx="1">
                  <c:v>273</c:v>
                </c:pt>
                <c:pt idx="2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F4-4EE3-946E-8D5BE1C831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Card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5080210093845704E-2"/>
                  <c:y val="3.9514104426478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F4-4EE3-946E-8D5BE1C8318A}"/>
                </c:ext>
              </c:extLst>
            </c:dLbl>
            <c:dLbl>
              <c:idx val="1"/>
              <c:layout>
                <c:manualLayout>
                  <c:x val="5.7807472026408131E-2"/>
                  <c:y val="1.75618241895460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FF4-4EE3-946E-8D5BE1C8318A}"/>
                </c:ext>
              </c:extLst>
            </c:dLbl>
            <c:dLbl>
              <c:idx val="2"/>
              <c:layout>
                <c:manualLayout>
                  <c:x val="2.7647051838716956E-2"/>
                  <c:y val="-2.63427362843190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FF4-4EE3-946E-8D5BE1C831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18181A"/>
                    </a:highligh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2507</c:v>
                </c:pt>
                <c:pt idx="1">
                  <c:v>282</c:v>
                </c:pt>
                <c:pt idx="2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F4-4EE3-946E-8D5BE1C831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Debit Card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50802100938455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FF4-4EE3-946E-8D5BE1C8318A}"/>
                </c:ext>
              </c:extLst>
            </c:dLbl>
            <c:dLbl>
              <c:idx val="1"/>
              <c:layout>
                <c:manualLayout>
                  <c:x val="2.5133683489742639E-2"/>
                  <c:y val="-1.3171368142159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FF4-4EE3-946E-8D5BE1C8318A}"/>
                </c:ext>
              </c:extLst>
            </c:dLbl>
            <c:dLbl>
              <c:idx val="2"/>
              <c:layout>
                <c:manualLayout>
                  <c:x val="4.0213893583588296E-2"/>
                  <c:y val="-4.39045604738650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FF4-4EE3-946E-8D5BE1C831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18181A"/>
                    </a:highligh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2543</c:v>
                </c:pt>
                <c:pt idx="1">
                  <c:v>274</c:v>
                </c:pt>
                <c:pt idx="2">
                  <c:v>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F4-4EE3-946E-8D5BE1C8318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Mobile Payment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2566841744871252E-2"/>
                  <c:y val="-4.39045604738650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F4-4EE3-946E-8D5BE1C8318A}"/>
                </c:ext>
              </c:extLst>
            </c:dLbl>
            <c:dLbl>
              <c:idx val="1"/>
              <c:layout>
                <c:manualLayout>
                  <c:x val="4.0213893583588296E-2"/>
                  <c:y val="-4.39045604738650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FF4-4EE3-946E-8D5BE1C8318A}"/>
                </c:ext>
              </c:extLst>
            </c:dLbl>
            <c:dLbl>
              <c:idx val="2"/>
              <c:layout>
                <c:manualLayout>
                  <c:x val="7.8536852218307307E-2"/>
                  <c:y val="-7.04531999069261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867081903775864E-2"/>
                      <c:h val="7.73159363467265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BFF4-4EE3-946E-8D5BE1C831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18181A"/>
                    </a:highligh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2555</c:v>
                </c:pt>
                <c:pt idx="1">
                  <c:v>302</c:v>
                </c:pt>
                <c:pt idx="2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F4-4EE3-946E-8D5BE1C831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shape val="box"/>
        <c:axId val="1432487328"/>
        <c:axId val="1433524720"/>
        <c:axId val="0"/>
      </c:bar3DChart>
      <c:catAx>
        <c:axId val="1432487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524720"/>
        <c:crosses val="autoZero"/>
        <c:auto val="1"/>
        <c:lblAlgn val="ctr"/>
        <c:lblOffset val="100"/>
        <c:noMultiLvlLbl val="0"/>
      </c:catAx>
      <c:valAx>
        <c:axId val="14335247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48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b="1" u="sng" dirty="0">
                <a:solidFill>
                  <a:schemeClr val="bg1"/>
                </a:solidFill>
                <a:latin typeface="Adobe Caslon Pro" panose="0205050205050A020403" pitchFamily="18" charset="0"/>
              </a:rPr>
              <a:t>4.Age</a:t>
            </a:r>
            <a:r>
              <a:rPr lang="en-IN" b="1" u="sng" baseline="0" dirty="0">
                <a:solidFill>
                  <a:schemeClr val="bg1"/>
                </a:solidFill>
                <a:latin typeface="Adobe Caslon Pro" panose="0205050205050A020403" pitchFamily="18" charset="0"/>
              </a:rPr>
              <a:t> Group Trends</a:t>
            </a:r>
            <a:endParaRPr lang="en-IN" b="1" u="sng" dirty="0">
              <a:solidFill>
                <a:schemeClr val="bg1"/>
              </a:solidFill>
              <a:latin typeface="Adobe Caslon Pro" panose="0205050205050A020403" pitchFamily="18" charset="0"/>
            </a:endParaRPr>
          </a:p>
        </c:rich>
      </c:tx>
      <c:layout>
        <c:manualLayout>
          <c:xMode val="edge"/>
          <c:yMode val="edge"/>
          <c:x val="0.33712481795378085"/>
          <c:y val="1.9841263641649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628192923848741"/>
          <c:y val="0.11384917077578716"/>
          <c:w val="0.81722706806467693"/>
          <c:h val="0.66721951405464508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chemeClr val="tx2">
                <a:lumMod val="25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69+</c:v>
                </c:pt>
                <c:pt idx="1">
                  <c:v>29-38</c:v>
                </c:pt>
                <c:pt idx="2">
                  <c:v>49-58</c:v>
                </c:pt>
                <c:pt idx="3">
                  <c:v>59-68</c:v>
                </c:pt>
                <c:pt idx="4">
                  <c:v>39-48</c:v>
                </c:pt>
                <c:pt idx="5">
                  <c:v>18-28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645</c:v>
                </c:pt>
                <c:pt idx="1">
                  <c:v>491</c:v>
                </c:pt>
                <c:pt idx="2">
                  <c:v>484</c:v>
                </c:pt>
                <c:pt idx="3">
                  <c:v>481</c:v>
                </c:pt>
                <c:pt idx="4">
                  <c:v>460</c:v>
                </c:pt>
                <c:pt idx="5">
                  <c:v>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CB-414F-B849-771BF89CA1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Card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69+</c:v>
                </c:pt>
                <c:pt idx="1">
                  <c:v>29-38</c:v>
                </c:pt>
                <c:pt idx="2">
                  <c:v>49-58</c:v>
                </c:pt>
                <c:pt idx="3">
                  <c:v>59-68</c:v>
                </c:pt>
                <c:pt idx="4">
                  <c:v>39-48</c:v>
                </c:pt>
                <c:pt idx="5">
                  <c:v>18-28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658</c:v>
                </c:pt>
                <c:pt idx="1">
                  <c:v>444</c:v>
                </c:pt>
                <c:pt idx="2">
                  <c:v>487</c:v>
                </c:pt>
                <c:pt idx="3">
                  <c:v>477</c:v>
                </c:pt>
                <c:pt idx="4">
                  <c:v>483</c:v>
                </c:pt>
                <c:pt idx="5">
                  <c:v>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CB-414F-B849-771BF89CA1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Debit Card</c:v>
                </c:pt>
              </c:strCache>
            </c:strRef>
          </c:tx>
          <c:spPr>
            <a:solidFill>
              <a:schemeClr val="tx1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69+</c:v>
                </c:pt>
                <c:pt idx="1">
                  <c:v>29-38</c:v>
                </c:pt>
                <c:pt idx="2">
                  <c:v>49-58</c:v>
                </c:pt>
                <c:pt idx="3">
                  <c:v>59-68</c:v>
                </c:pt>
                <c:pt idx="4">
                  <c:v>39-48</c:v>
                </c:pt>
                <c:pt idx="5">
                  <c:v>18-28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686</c:v>
                </c:pt>
                <c:pt idx="1">
                  <c:v>475</c:v>
                </c:pt>
                <c:pt idx="2">
                  <c:v>490</c:v>
                </c:pt>
                <c:pt idx="3">
                  <c:v>435</c:v>
                </c:pt>
                <c:pt idx="4">
                  <c:v>498</c:v>
                </c:pt>
                <c:pt idx="5">
                  <c:v>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CB-414F-B849-771BF89CA1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Mobile Payment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69+</c:v>
                </c:pt>
                <c:pt idx="1">
                  <c:v>29-38</c:v>
                </c:pt>
                <c:pt idx="2">
                  <c:v>49-58</c:v>
                </c:pt>
                <c:pt idx="3">
                  <c:v>59-68</c:v>
                </c:pt>
                <c:pt idx="4">
                  <c:v>39-48</c:v>
                </c:pt>
                <c:pt idx="5">
                  <c:v>18-28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709</c:v>
                </c:pt>
                <c:pt idx="1">
                  <c:v>477</c:v>
                </c:pt>
                <c:pt idx="2">
                  <c:v>487</c:v>
                </c:pt>
                <c:pt idx="3">
                  <c:v>464</c:v>
                </c:pt>
                <c:pt idx="4">
                  <c:v>476</c:v>
                </c:pt>
                <c:pt idx="5">
                  <c:v>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CB-414F-B849-771BF89CA1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430692000"/>
        <c:axId val="203620576"/>
        <c:axId val="0"/>
      </c:bar3DChart>
      <c:catAx>
        <c:axId val="1430692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18181A"/>
                </a:highlight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0576"/>
        <c:crosses val="autoZero"/>
        <c:auto val="1"/>
        <c:lblAlgn val="ctr"/>
        <c:lblOffset val="100"/>
        <c:noMultiLvlLbl val="0"/>
      </c:catAx>
      <c:valAx>
        <c:axId val="203620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18181A"/>
                </a:highligh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692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Data of Biscuit Brand.xlsx]Task 9 - Visual Analysis!PivotTable1</c:name>
    <c:fmtId val="9"/>
  </c:pivotSource>
  <c:chart>
    <c:title>
      <c:layout>
        <c:manualLayout>
          <c:xMode val="edge"/>
          <c:yMode val="edge"/>
          <c:x val="0.45444387587898877"/>
          <c:y val="5.442713299719935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₹&quot;\ 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₹&quot;\ 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₹&quot;\ 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907143744328073"/>
          <c:y val="9.845868359193366E-2"/>
          <c:w val="0.68161676589719999"/>
          <c:h val="0.621413005513425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9 - Visual Analysis'!$B$1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10000"/>
              </a:schemeClr>
            </a:solidFill>
            <a:ln>
              <a:noFill/>
            </a:ln>
            <a:effectLst/>
          </c:spPr>
          <c:invertIfNegative val="0"/>
          <c:dLbls>
            <c:numFmt formatCode="&quot;₹&quot;\ 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9 - Visual Analysis'!$A$2:$A$12</c:f>
              <c:strCache>
                <c:ptCount val="10"/>
                <c:pt idx="0">
                  <c:v>Little Hearts</c:v>
                </c:pt>
                <c:pt idx="1">
                  <c:v>Unibic</c:v>
                </c:pt>
                <c:pt idx="2">
                  <c:v>Oreo</c:v>
                </c:pt>
                <c:pt idx="3">
                  <c:v>Britannia</c:v>
                </c:pt>
                <c:pt idx="4">
                  <c:v>Malkist</c:v>
                </c:pt>
                <c:pt idx="5">
                  <c:v>Parle</c:v>
                </c:pt>
                <c:pt idx="6">
                  <c:v>Good Day</c:v>
                </c:pt>
                <c:pt idx="7">
                  <c:v>Tiger</c:v>
                </c:pt>
                <c:pt idx="8">
                  <c:v>Sunfeast</c:v>
                </c:pt>
                <c:pt idx="9">
                  <c:v>Marie Gold</c:v>
                </c:pt>
              </c:strCache>
            </c:strRef>
          </c:cat>
          <c:val>
            <c:numRef>
              <c:f>'Task 9 - Visual Analysis'!$B$2:$B$12</c:f>
              <c:numCache>
                <c:formatCode>General</c:formatCode>
                <c:ptCount val="10"/>
                <c:pt idx="0">
                  <c:v>44064</c:v>
                </c:pt>
                <c:pt idx="1">
                  <c:v>36540</c:v>
                </c:pt>
                <c:pt idx="2">
                  <c:v>31584</c:v>
                </c:pt>
                <c:pt idx="3">
                  <c:v>26950</c:v>
                </c:pt>
                <c:pt idx="4">
                  <c:v>20286</c:v>
                </c:pt>
                <c:pt idx="5">
                  <c:v>10990</c:v>
                </c:pt>
                <c:pt idx="6">
                  <c:v>9768</c:v>
                </c:pt>
                <c:pt idx="7">
                  <c:v>8832</c:v>
                </c:pt>
                <c:pt idx="8">
                  <c:v>6900</c:v>
                </c:pt>
                <c:pt idx="9">
                  <c:v>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4C-41E8-BFAE-360201C1CA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63054239"/>
        <c:axId val="1042097279"/>
      </c:barChart>
      <c:catAx>
        <c:axId val="1363054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097279"/>
        <c:crosses val="autoZero"/>
        <c:auto val="1"/>
        <c:lblAlgn val="ctr"/>
        <c:lblOffset val="100"/>
        <c:noMultiLvlLbl val="0"/>
      </c:catAx>
      <c:valAx>
        <c:axId val="1042097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054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111687910573645"/>
          <c:y val="0.1662601402831044"/>
          <c:w val="0.82149457990261499"/>
          <c:h val="0.70115315483974905"/>
        </c:manualLayout>
      </c:layout>
      <c:scatterChart>
        <c:scatterStyle val="lineMarker"/>
        <c:varyColors val="0"/>
        <c:ser>
          <c:idx val="0"/>
          <c:order val="0"/>
          <c:tx>
            <c:strRef>
              <c:f>'Task 9 - Visual Analysis'!$Q$1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ln w="19050" cap="rnd">
              <a:solidFill>
                <a:schemeClr val="tx2">
                  <a:lumMod val="1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'Task 9 - Visual Analysis'!$P$2:$P$65</c:f>
              <c:numCache>
                <c:formatCode>General</c:formatCode>
                <c:ptCount val="64"/>
                <c:pt idx="0">
                  <c:v>20</c:v>
                </c:pt>
                <c:pt idx="1">
                  <c:v>21</c:v>
                </c:pt>
                <c:pt idx="2">
                  <c:v>22</c:v>
                </c:pt>
                <c:pt idx="3">
                  <c:v>23</c:v>
                </c:pt>
                <c:pt idx="4">
                  <c:v>24</c:v>
                </c:pt>
                <c:pt idx="5">
                  <c:v>25</c:v>
                </c:pt>
                <c:pt idx="6">
                  <c:v>26</c:v>
                </c:pt>
                <c:pt idx="7">
                  <c:v>27</c:v>
                </c:pt>
                <c:pt idx="8">
                  <c:v>28</c:v>
                </c:pt>
                <c:pt idx="9">
                  <c:v>29</c:v>
                </c:pt>
                <c:pt idx="10">
                  <c:v>30</c:v>
                </c:pt>
                <c:pt idx="11">
                  <c:v>31</c:v>
                </c:pt>
                <c:pt idx="12">
                  <c:v>32</c:v>
                </c:pt>
                <c:pt idx="13">
                  <c:v>33</c:v>
                </c:pt>
                <c:pt idx="14">
                  <c:v>34</c:v>
                </c:pt>
                <c:pt idx="15">
                  <c:v>35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46</c:v>
                </c:pt>
                <c:pt idx="27">
                  <c:v>47</c:v>
                </c:pt>
                <c:pt idx="28">
                  <c:v>48</c:v>
                </c:pt>
                <c:pt idx="29">
                  <c:v>49</c:v>
                </c:pt>
                <c:pt idx="30">
                  <c:v>50</c:v>
                </c:pt>
                <c:pt idx="31">
                  <c:v>51</c:v>
                </c:pt>
                <c:pt idx="32">
                  <c:v>52</c:v>
                </c:pt>
                <c:pt idx="33">
                  <c:v>53</c:v>
                </c:pt>
                <c:pt idx="34">
                  <c:v>54</c:v>
                </c:pt>
                <c:pt idx="35">
                  <c:v>55</c:v>
                </c:pt>
                <c:pt idx="36">
                  <c:v>56</c:v>
                </c:pt>
                <c:pt idx="37">
                  <c:v>57</c:v>
                </c:pt>
                <c:pt idx="38">
                  <c:v>58</c:v>
                </c:pt>
                <c:pt idx="39">
                  <c:v>59</c:v>
                </c:pt>
                <c:pt idx="40">
                  <c:v>60</c:v>
                </c:pt>
                <c:pt idx="41">
                  <c:v>61</c:v>
                </c:pt>
                <c:pt idx="42">
                  <c:v>62</c:v>
                </c:pt>
                <c:pt idx="43">
                  <c:v>63</c:v>
                </c:pt>
                <c:pt idx="44">
                  <c:v>64</c:v>
                </c:pt>
                <c:pt idx="45">
                  <c:v>65</c:v>
                </c:pt>
                <c:pt idx="46">
                  <c:v>66</c:v>
                </c:pt>
                <c:pt idx="47">
                  <c:v>67</c:v>
                </c:pt>
                <c:pt idx="48">
                  <c:v>68</c:v>
                </c:pt>
                <c:pt idx="49">
                  <c:v>69</c:v>
                </c:pt>
                <c:pt idx="50">
                  <c:v>70</c:v>
                </c:pt>
                <c:pt idx="51">
                  <c:v>71</c:v>
                </c:pt>
                <c:pt idx="52">
                  <c:v>72</c:v>
                </c:pt>
                <c:pt idx="53">
                  <c:v>73</c:v>
                </c:pt>
                <c:pt idx="54">
                  <c:v>74</c:v>
                </c:pt>
                <c:pt idx="55">
                  <c:v>75</c:v>
                </c:pt>
                <c:pt idx="56">
                  <c:v>76</c:v>
                </c:pt>
                <c:pt idx="57">
                  <c:v>77</c:v>
                </c:pt>
                <c:pt idx="58">
                  <c:v>78</c:v>
                </c:pt>
                <c:pt idx="59">
                  <c:v>79</c:v>
                </c:pt>
                <c:pt idx="60">
                  <c:v>80</c:v>
                </c:pt>
                <c:pt idx="61">
                  <c:v>81</c:v>
                </c:pt>
                <c:pt idx="62">
                  <c:v>82</c:v>
                </c:pt>
                <c:pt idx="63">
                  <c:v>83</c:v>
                </c:pt>
              </c:numCache>
            </c:numRef>
          </c:xVal>
          <c:yVal>
            <c:numRef>
              <c:f>'Task 9 - Visual Analysis'!$Q$2:$Q$65</c:f>
              <c:numCache>
                <c:formatCode>General</c:formatCode>
                <c:ptCount val="64"/>
                <c:pt idx="0">
                  <c:v>794636</c:v>
                </c:pt>
                <c:pt idx="1">
                  <c:v>935256</c:v>
                </c:pt>
                <c:pt idx="2">
                  <c:v>1120957</c:v>
                </c:pt>
                <c:pt idx="3">
                  <c:v>991287</c:v>
                </c:pt>
                <c:pt idx="4">
                  <c:v>955661</c:v>
                </c:pt>
                <c:pt idx="5">
                  <c:v>1028258</c:v>
                </c:pt>
                <c:pt idx="6">
                  <c:v>982107</c:v>
                </c:pt>
                <c:pt idx="7">
                  <c:v>820492</c:v>
                </c:pt>
                <c:pt idx="8">
                  <c:v>957957</c:v>
                </c:pt>
                <c:pt idx="9">
                  <c:v>1023638</c:v>
                </c:pt>
                <c:pt idx="10">
                  <c:v>1004958</c:v>
                </c:pt>
                <c:pt idx="11">
                  <c:v>878003</c:v>
                </c:pt>
                <c:pt idx="12">
                  <c:v>1092283</c:v>
                </c:pt>
                <c:pt idx="13">
                  <c:v>973983</c:v>
                </c:pt>
                <c:pt idx="14">
                  <c:v>958201</c:v>
                </c:pt>
                <c:pt idx="15">
                  <c:v>1079177</c:v>
                </c:pt>
                <c:pt idx="16">
                  <c:v>996373</c:v>
                </c:pt>
                <c:pt idx="17">
                  <c:v>871803</c:v>
                </c:pt>
                <c:pt idx="18">
                  <c:v>1119465</c:v>
                </c:pt>
                <c:pt idx="19">
                  <c:v>1025727</c:v>
                </c:pt>
                <c:pt idx="20">
                  <c:v>1002371</c:v>
                </c:pt>
                <c:pt idx="21">
                  <c:v>978243</c:v>
                </c:pt>
                <c:pt idx="22">
                  <c:v>893813</c:v>
                </c:pt>
                <c:pt idx="23">
                  <c:v>1003020</c:v>
                </c:pt>
                <c:pt idx="24">
                  <c:v>997360</c:v>
                </c:pt>
                <c:pt idx="25">
                  <c:v>819741</c:v>
                </c:pt>
                <c:pt idx="26">
                  <c:v>1086143</c:v>
                </c:pt>
                <c:pt idx="27">
                  <c:v>943381</c:v>
                </c:pt>
                <c:pt idx="28">
                  <c:v>962694</c:v>
                </c:pt>
                <c:pt idx="29">
                  <c:v>964603</c:v>
                </c:pt>
                <c:pt idx="30">
                  <c:v>883544</c:v>
                </c:pt>
                <c:pt idx="31">
                  <c:v>899195</c:v>
                </c:pt>
                <c:pt idx="32">
                  <c:v>969803</c:v>
                </c:pt>
                <c:pt idx="33">
                  <c:v>1017442</c:v>
                </c:pt>
                <c:pt idx="34">
                  <c:v>914788</c:v>
                </c:pt>
                <c:pt idx="35">
                  <c:v>934424</c:v>
                </c:pt>
                <c:pt idx="36">
                  <c:v>1040286</c:v>
                </c:pt>
                <c:pt idx="37">
                  <c:v>900825</c:v>
                </c:pt>
                <c:pt idx="38">
                  <c:v>967216</c:v>
                </c:pt>
                <c:pt idx="39">
                  <c:v>979810</c:v>
                </c:pt>
                <c:pt idx="40">
                  <c:v>928022</c:v>
                </c:pt>
                <c:pt idx="41">
                  <c:v>1084522</c:v>
                </c:pt>
                <c:pt idx="42">
                  <c:v>964792</c:v>
                </c:pt>
                <c:pt idx="43">
                  <c:v>780155</c:v>
                </c:pt>
                <c:pt idx="44">
                  <c:v>752732</c:v>
                </c:pt>
                <c:pt idx="45">
                  <c:v>1069337</c:v>
                </c:pt>
                <c:pt idx="46">
                  <c:v>848103</c:v>
                </c:pt>
                <c:pt idx="47">
                  <c:v>1007881</c:v>
                </c:pt>
                <c:pt idx="48">
                  <c:v>1150340</c:v>
                </c:pt>
                <c:pt idx="49">
                  <c:v>1166125</c:v>
                </c:pt>
                <c:pt idx="50">
                  <c:v>1157398</c:v>
                </c:pt>
                <c:pt idx="51">
                  <c:v>1158249</c:v>
                </c:pt>
                <c:pt idx="52">
                  <c:v>969439</c:v>
                </c:pt>
                <c:pt idx="53">
                  <c:v>975131</c:v>
                </c:pt>
                <c:pt idx="54">
                  <c:v>831305</c:v>
                </c:pt>
                <c:pt idx="55">
                  <c:v>979543</c:v>
                </c:pt>
                <c:pt idx="56">
                  <c:v>1085780</c:v>
                </c:pt>
                <c:pt idx="57">
                  <c:v>847632</c:v>
                </c:pt>
                <c:pt idx="58">
                  <c:v>843858</c:v>
                </c:pt>
                <c:pt idx="59">
                  <c:v>1022053</c:v>
                </c:pt>
                <c:pt idx="60">
                  <c:v>871145</c:v>
                </c:pt>
                <c:pt idx="61">
                  <c:v>1056848</c:v>
                </c:pt>
                <c:pt idx="62">
                  <c:v>960947</c:v>
                </c:pt>
                <c:pt idx="63">
                  <c:v>287622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BFB-4A63-9C1D-97D2D3016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59381983"/>
        <c:axId val="1562102207"/>
      </c:scatterChart>
      <c:valAx>
        <c:axId val="16593819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2102207"/>
        <c:crosses val="autoZero"/>
        <c:crossBetween val="midCat"/>
      </c:valAx>
      <c:valAx>
        <c:axId val="1562102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93819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Data of Biscuit Brand.xlsx]Task 9 - Visual Analysis!PivotTable2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85000"/>
              <a:lumOff val="1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44444444444443"/>
              <c:y val="1.388888888888872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833333333333333"/>
              <c:y val="8.3333333333333329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2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4999999999999997E-2"/>
              <c:y val="-8.7962962962962965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85000"/>
              <a:lumOff val="1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44444444444443"/>
              <c:y val="1.388888888888872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833333333333333"/>
              <c:y val="8.3333333333333329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bg2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4999999999999997E-2"/>
              <c:y val="-8.7962962962962965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tx2">
              <a:lumMod val="85000"/>
              <a:lumOff val="1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44444444444443"/>
              <c:y val="1.388888888888872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833333333333333"/>
              <c:y val="8.3333333333333329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bg2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4999999999999997E-2"/>
              <c:y val="-8.7962962962962965E-2"/>
            </c:manualLayout>
          </c:layout>
          <c:numFmt formatCode="&quot;₹&quot;\ 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447368773573226"/>
          <c:y val="0.16734857275469947"/>
          <c:w val="0.65558290676695996"/>
          <c:h val="0.70984422139707593"/>
        </c:manualLayout>
      </c:layout>
      <c:doughnutChart>
        <c:varyColors val="1"/>
        <c:ser>
          <c:idx val="0"/>
          <c:order val="0"/>
          <c:tx>
            <c:strRef>
              <c:f>'Task 9 - Visual Analysis'!$E$1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tx2">
                  <a:lumMod val="1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8F-4E43-A44F-4C22C0D2F6B1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8F-4E43-A44F-4C22C0D2F6B1}"/>
              </c:ext>
            </c:extLst>
          </c:dPt>
          <c:dPt>
            <c:idx val="2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88F-4E43-A44F-4C22C0D2F6B1}"/>
              </c:ext>
            </c:extLst>
          </c:dPt>
          <c:dLbls>
            <c:dLbl>
              <c:idx val="0"/>
              <c:layout>
                <c:manualLayout>
                  <c:x val="0.14444444444444443"/>
                  <c:y val="1.3888888888888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8F-4E43-A44F-4C22C0D2F6B1}"/>
                </c:ext>
              </c:extLst>
            </c:dLbl>
            <c:dLbl>
              <c:idx val="1"/>
              <c:layout>
                <c:manualLayout>
                  <c:x val="-0.15833333333333333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88F-4E43-A44F-4C22C0D2F6B1}"/>
                </c:ext>
              </c:extLst>
            </c:dLbl>
            <c:dLbl>
              <c:idx val="2"/>
              <c:layout>
                <c:manualLayout>
                  <c:x val="-7.4999999999999997E-2"/>
                  <c:y val="-8.7962962962962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88F-4E43-A44F-4C22C0D2F6B1}"/>
                </c:ext>
              </c:extLst>
            </c:dLbl>
            <c:numFmt formatCode="&quot;₹&quot;\ 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'Task 9 - Visual Analysis'!$D$2:$D$5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'Task 9 - Visual Analysis'!$E$2:$E$5</c:f>
              <c:numCache>
                <c:formatCode>General</c:formatCode>
                <c:ptCount val="3"/>
                <c:pt idx="0">
                  <c:v>51966838</c:v>
                </c:pt>
                <c:pt idx="1">
                  <c:v>5844566</c:v>
                </c:pt>
                <c:pt idx="2">
                  <c:v>3756479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88F-4E43-A44F-4C22C0D2F6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907143744328073"/>
          <c:y val="0.12398391461594883"/>
          <c:w val="0.76483913135887382"/>
          <c:h val="0.76138029248628913"/>
        </c:manualLayout>
      </c:layout>
      <c:scatterChart>
        <c:scatterStyle val="lineMarker"/>
        <c:varyColors val="0"/>
        <c:ser>
          <c:idx val="0"/>
          <c:order val="0"/>
          <c:tx>
            <c:strRef>
              <c:f>'Task 9 - Visual Analysis'!$B$24</c:f>
              <c:strCache>
                <c:ptCount val="1"/>
                <c:pt idx="0">
                  <c:v>Sum of Profit</c:v>
                </c:pt>
              </c:strCache>
            </c:strRef>
          </c:tx>
          <c:spPr>
            <a:ln w="19050" cap="rnd">
              <a:solidFill>
                <a:schemeClr val="tx2">
                  <a:lumMod val="1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5"/>
              <c:layout>
                <c:manualLayout>
                  <c:x val="-4.790103119955199E-2"/>
                  <c:y val="-0.132762943738177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2B9-442C-9D8F-8045D33FC434}"/>
                </c:ext>
              </c:extLst>
            </c:dLbl>
            <c:dLbl>
              <c:idx val="9"/>
              <c:layout>
                <c:manualLayout>
                  <c:x val="-1.4428227852271604E-2"/>
                  <c:y val="-0.1121035499054238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B9-442C-9D8F-8045D33FC43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'Task 9 - Visual Analysis'!$A$25:$A$34</c:f>
              <c:numCache>
                <c:formatCode>"₹"\ #,##0.00</c:formatCode>
                <c:ptCount val="10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11</c:v>
                </c:pt>
                <c:pt idx="4">
                  <c:v>14</c:v>
                </c:pt>
                <c:pt idx="5">
                  <c:v>22</c:v>
                </c:pt>
                <c:pt idx="6">
                  <c:v>23</c:v>
                </c:pt>
                <c:pt idx="7">
                  <c:v>28</c:v>
                </c:pt>
                <c:pt idx="8">
                  <c:v>36</c:v>
                </c:pt>
                <c:pt idx="9">
                  <c:v>45</c:v>
                </c:pt>
              </c:numCache>
            </c:numRef>
          </c:xVal>
          <c:yVal>
            <c:numRef>
              <c:f>'Task 9 - Visual Analysis'!$B$25:$B$34</c:f>
              <c:numCache>
                <c:formatCode>General</c:formatCode>
                <c:ptCount val="10"/>
                <c:pt idx="0">
                  <c:v>594326</c:v>
                </c:pt>
                <c:pt idx="1">
                  <c:v>633780</c:v>
                </c:pt>
                <c:pt idx="2">
                  <c:v>589032</c:v>
                </c:pt>
                <c:pt idx="3">
                  <c:v>312371</c:v>
                </c:pt>
                <c:pt idx="4">
                  <c:v>1163240</c:v>
                </c:pt>
                <c:pt idx="5">
                  <c:v>1193240</c:v>
                </c:pt>
                <c:pt idx="6">
                  <c:v>1148924</c:v>
                </c:pt>
                <c:pt idx="7">
                  <c:v>4491830</c:v>
                </c:pt>
                <c:pt idx="8">
                  <c:v>5789610</c:v>
                </c:pt>
                <c:pt idx="9">
                  <c:v>10868480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2B9-442C-9D8F-8045D33FC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3430143"/>
        <c:axId val="1557764719"/>
      </c:scatterChart>
      <c:valAx>
        <c:axId val="16734301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764719"/>
        <c:crosses val="autoZero"/>
        <c:crossBetween val="midCat"/>
      </c:valAx>
      <c:valAx>
        <c:axId val="1557764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3430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Data of Biscuit Brand.xlsx]Task 9 - Visual Analysis!PivotTable6</c:name>
    <c:fmtId val="4"/>
  </c:pivotSource>
  <c:chart>
    <c:autoTitleDeleted val="0"/>
    <c:pivotFmts>
      <c:pivotFmt>
        <c:idx val="0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  <c:dLbl>
          <c:idx val="0"/>
          <c:layout>
            <c:manualLayout>
              <c:x val="0"/>
              <c:y val="1.8141107821745751E-2"/>
            </c:manualLayout>
          </c:layout>
          <c:numFmt formatCode="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</c:pivotFmt>
      <c:pivotFmt>
        <c:idx val="4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</c:pivotFmt>
      <c:pivotFmt>
        <c:idx val="5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</c:pivotFmt>
      <c:pivotFmt>
        <c:idx val="6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  <c:dLbl>
          <c:idx val="0"/>
          <c:layout>
            <c:manualLayout>
              <c:x val="0"/>
              <c:y val="1.8141107821745751E-2"/>
            </c:manualLayout>
          </c:layout>
          <c:numFmt formatCode="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</c:pivotFmt>
      <c:pivotFmt>
        <c:idx val="9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tx2">
              <a:lumMod val="85000"/>
              <a:lumOff val="15000"/>
            </a:schemeClr>
          </a:solidFill>
          <a:ln>
            <a:solidFill>
              <a:schemeClr val="tx2">
                <a:lumMod val="85000"/>
                <a:lumOff val="15000"/>
              </a:schemeClr>
            </a:solidFill>
          </a:ln>
          <a:effectLst/>
        </c:spPr>
        <c:dLbl>
          <c:idx val="0"/>
          <c:layout>
            <c:manualLayout>
              <c:x val="0"/>
              <c:y val="1.8141107821745751E-2"/>
            </c:manualLayout>
          </c:layout>
          <c:numFmt formatCode="#,##0" sourceLinked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3618593270264079"/>
          <c:y val="3.7037037037037035E-2"/>
          <c:w val="0.8319793328706252"/>
          <c:h val="0.734990257635391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9 - Visual Analysis'!$F$15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solidFill>
              <a:schemeClr val="tx2">
                <a:lumMod val="10000"/>
              </a:schemeClr>
            </a:solidFill>
            <a:ln>
              <a:solidFill>
                <a:schemeClr val="tx2">
                  <a:lumMod val="85000"/>
                  <a:lumOff val="1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81411078217457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05D-48B0-A1E4-CCC5B7F8568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9 - Visual Analysis'!$E$16:$E$28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'Task 9 - Visual Analysis'!$F$16:$F$28</c:f>
              <c:numCache>
                <c:formatCode>General</c:formatCode>
                <c:ptCount val="12"/>
                <c:pt idx="0">
                  <c:v>7878885</c:v>
                </c:pt>
                <c:pt idx="1">
                  <c:v>6643889</c:v>
                </c:pt>
                <c:pt idx="2">
                  <c:v>7569683</c:v>
                </c:pt>
                <c:pt idx="3">
                  <c:v>6943099</c:v>
                </c:pt>
                <c:pt idx="4">
                  <c:v>7429026</c:v>
                </c:pt>
                <c:pt idx="5">
                  <c:v>7206118</c:v>
                </c:pt>
                <c:pt idx="6">
                  <c:v>7588660</c:v>
                </c:pt>
                <c:pt idx="7">
                  <c:v>2021735</c:v>
                </c:pt>
                <c:pt idx="8">
                  <c:v>1967804</c:v>
                </c:pt>
                <c:pt idx="9">
                  <c:v>2327035</c:v>
                </c:pt>
                <c:pt idx="10">
                  <c:v>2026221</c:v>
                </c:pt>
                <c:pt idx="11">
                  <c:v>1965728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5D-48B0-A1E4-CCC5B7F85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4561983"/>
        <c:axId val="1557745999"/>
      </c:barChart>
      <c:lineChart>
        <c:grouping val="standard"/>
        <c:varyColors val="0"/>
        <c:ser>
          <c:idx val="1"/>
          <c:order val="1"/>
          <c:tx>
            <c:strRef>
              <c:f>'Task 9 - Visual Analysis'!$G$15</c:f>
              <c:strCache>
                <c:ptCount val="1"/>
                <c:pt idx="0">
                  <c:v>Sum of Profit</c:v>
                </c:pt>
              </c:strCache>
            </c:strRef>
          </c:tx>
          <c:spPr>
            <a:ln w="28575" cap="rnd">
              <a:solidFill>
                <a:schemeClr val="tx2">
                  <a:lumMod val="1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'Task 9 - Visual Analysis'!$E$16:$E$28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'Task 9 - Visual Analysis'!$G$16:$G$28</c:f>
              <c:numCache>
                <c:formatCode>General</c:formatCode>
                <c:ptCount val="12"/>
                <c:pt idx="0">
                  <c:v>3398567</c:v>
                </c:pt>
                <c:pt idx="1">
                  <c:v>2934864</c:v>
                </c:pt>
                <c:pt idx="2">
                  <c:v>3299340</c:v>
                </c:pt>
                <c:pt idx="3">
                  <c:v>2982248</c:v>
                </c:pt>
                <c:pt idx="4">
                  <c:v>3091900</c:v>
                </c:pt>
                <c:pt idx="5">
                  <c:v>3169359</c:v>
                </c:pt>
                <c:pt idx="6">
                  <c:v>3366071</c:v>
                </c:pt>
                <c:pt idx="7">
                  <c:v>885670</c:v>
                </c:pt>
                <c:pt idx="8">
                  <c:v>884622</c:v>
                </c:pt>
                <c:pt idx="9">
                  <c:v>1018616</c:v>
                </c:pt>
                <c:pt idx="10">
                  <c:v>902265</c:v>
                </c:pt>
                <c:pt idx="11">
                  <c:v>851311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5D-48B0-A1E4-CCC5B7F85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4561983"/>
        <c:axId val="1557745999"/>
      </c:lineChart>
      <c:catAx>
        <c:axId val="166456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745999"/>
        <c:crosses val="autoZero"/>
        <c:auto val="1"/>
        <c:lblAlgn val="ctr"/>
        <c:lblOffset val="100"/>
        <c:noMultiLvlLbl val="0"/>
      </c:catAx>
      <c:valAx>
        <c:axId val="1557745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561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535038331271329"/>
          <c:y val="0.87038153176902255"/>
          <c:w val="0.32036600680186789"/>
          <c:h val="0.125000874890638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Sheet1!$A$2:$A$11</cx:f>
        <cx:lvl ptCount="10">
          <cx:pt idx="0">Little Hearts</cx:pt>
          <cx:pt idx="1">Oreo</cx:pt>
          <cx:pt idx="2">Parle</cx:pt>
          <cx:pt idx="3">Good Day</cx:pt>
          <cx:pt idx="4">Unibic</cx:pt>
          <cx:pt idx="5">Britannia</cx:pt>
          <cx:pt idx="6">Sunfeast</cx:pt>
          <cx:pt idx="7">Marie Gold</cx:pt>
          <cx:pt idx="8">Malkist</cx:pt>
          <cx:pt idx="9">Tiger</cx:pt>
        </cx:lvl>
      </cx:strDim>
      <cx:numDim type="size">
        <cx:f>Sheet1!$B$2:$B$11</cx:f>
        <cx:lvl ptCount="10" formatCode="#,##0">
          <cx:pt idx="0">321645</cx:pt>
          <cx:pt idx="1">320845</cx:pt>
          <cx:pt idx="2">316890</cx:pt>
          <cx:pt idx="3">312371</cx:pt>
          <cx:pt idx="4">310528</cx:pt>
          <cx:pt idx="5">298310</cx:pt>
          <cx:pt idx="6">297163</cx:pt>
          <cx:pt idx="7">294516</cx:pt>
          <cx:pt idx="8">290810</cx:pt>
          <cx:pt idx="9">287231</cx:pt>
        </cx:lvl>
      </cx:numDim>
    </cx:data>
  </cx:chartData>
  <cx:chart>
    <cx:title pos="t" align="ctr" overlay="0">
      <cx:tx>
        <cx:txData>
          <cx:v>Quantity Sold by Product</cx:v>
        </cx:txData>
      </cx:tx>
      <cx:txPr>
        <a:bodyPr rot="0" spcFirstLastPara="1" vertOverflow="ellipsis" vert="horz" wrap="square" lIns="38100" tIns="19050" rIns="38100" bIns="19050" anchor="ctr" anchorCtr="1" compatLnSpc="0"/>
        <a:lstStyle/>
        <a:p>
          <a:pPr algn="ctr" rtl="0">
            <a:defRPr sz="1862" b="0" i="0" u="none" strike="noStrike" kern="1200" spc="0" baseline="0">
              <a:solidFill>
                <a:prstClr val="white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r>
            <a:rPr kumimoji="0" lang="en-US" sz="1862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  <a:lumOff val="35000"/>
                </a:prstClr>
              </a:solidFill>
              <a:effectLst/>
              <a:uLnTx/>
              <a:uFillTx/>
              <a:latin typeface="Adobe Caslon Pro Bold" panose="0205070206050A020403" pitchFamily="18" charset="0"/>
            </a:rPr>
            <a:t>Quantity Sold by Product</a:t>
          </a:r>
        </a:p>
      </cx:txPr>
    </cx:title>
    <cx:plotArea>
      <cx:plotAreaRegion>
        <cx:series layoutId="treemap" uniqueId="{DD6B8638-0FD6-4CD2-A8A6-15B07C1255E5}">
          <cx:tx>
            <cx:txData>
              <cx:f>Sheet1!$B$1</cx:f>
              <cx:v>Sum of Quantity Purchased</cx:v>
            </cx:txData>
          </cx:tx>
          <cx:dataPt idx="0">
            <cx:spPr>
              <a:solidFill>
                <a:srgbClr val="E7E6E6">
                  <a:lumMod val="10000"/>
                </a:srgbClr>
              </a:solidFill>
            </cx:spPr>
          </cx:dataPt>
          <cx:dataPt idx="1">
            <cx:spPr>
              <a:solidFill>
                <a:srgbClr val="A5A5A5">
                  <a:lumMod val="50000"/>
                </a:srgbClr>
              </a:solidFill>
            </cx:spPr>
          </cx:dataPt>
          <cx:dataPt idx="2">
            <cx:spPr>
              <a:solidFill>
                <a:srgbClr val="E7E6E6">
                  <a:lumMod val="25000"/>
                </a:srgbClr>
              </a:solidFill>
            </cx:spPr>
          </cx:dataPt>
          <cx:dataPt idx="3">
            <cx:spPr>
              <a:solidFill>
                <a:srgbClr val="A5A5A5">
                  <a:lumMod val="75000"/>
                </a:srgbClr>
              </a:solidFill>
            </cx:spPr>
          </cx:dataPt>
          <cx:dataPt idx="4">
            <cx:spPr>
              <a:solidFill>
                <a:srgbClr val="E7E6E6">
                  <a:lumMod val="50000"/>
                </a:srgbClr>
              </a:solidFill>
            </cx:spPr>
          </cx:dataPt>
          <cx:dataPt idx="5">
            <cx:spPr>
              <a:solidFill>
                <a:srgbClr val="A5A5A5">
                  <a:lumMod val="60000"/>
                  <a:lumOff val="40000"/>
                </a:srgbClr>
              </a:solidFill>
            </cx:spPr>
          </cx:dataPt>
          <cx:dataPt idx="6">
            <cx:spPr>
              <a:solidFill>
                <a:srgbClr val="E7E6E6">
                  <a:lumMod val="75000"/>
                </a:srgbClr>
              </a:solidFill>
            </cx:spPr>
          </cx:dataPt>
          <cx:dataPt idx="7">
            <cx:spPr>
              <a:solidFill>
                <a:srgbClr val="A5A5A5">
                  <a:lumMod val="40000"/>
                  <a:lumOff val="60000"/>
                </a:srgbClr>
              </a:solidFill>
            </cx:spPr>
          </cx:dataPt>
          <cx:dataPt idx="8">
            <cx:spPr>
              <a:solidFill>
                <a:srgbClr val="E7E6E6">
                  <a:lumMod val="90000"/>
                </a:srgbClr>
              </a:solidFill>
            </cx:spPr>
          </cx:dataPt>
          <cx:dataPt idx="9">
            <cx:spPr>
              <a:solidFill>
                <a:srgbClr val="A5A5A5">
                  <a:lumMod val="20000"/>
                  <a:lumOff val="80000"/>
                </a:srgbClr>
              </a:solidFill>
            </cx:spPr>
          </cx:dataPt>
          <cx:dataLabels>
            <cx:spPr>
              <a:solidFill>
                <a:schemeClr val="bg1"/>
              </a:solidFill>
            </cx:spPr>
            <cx:visibility seriesName="0" categoryName="1" value="1"/>
            <cx:separator>, </cx:separator>
          </cx:dataLabels>
          <cx:dataId val="0"/>
          <cx:layoutPr/>
        </cx:series>
      </cx:plotAreaRegion>
    </cx:plotArea>
    <cx:legend pos="b" align="ctr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'Task 9 - Visual Analysis'!$A$17:$A$22</cx:f>
        <cx:lvl ptCount="6">
          <cx:pt idx="0">18-28</cx:pt>
          <cx:pt idx="1">29-38</cx:pt>
          <cx:pt idx="2">39-48</cx:pt>
          <cx:pt idx="3">49-58</cx:pt>
          <cx:pt idx="4">59-68</cx:pt>
          <cx:pt idx="5">69+</cx:pt>
        </cx:lvl>
      </cx:strDim>
      <cx:numDim type="val">
        <cx:f>'Task 9 - Visual Analysis'!$B$17:$B$22</cx:f>
        <cx:lvl ptCount="6" formatCode="General">
          <cx:pt idx="0">40592</cx:pt>
          <cx:pt idx="1">63199</cx:pt>
          <cx:pt idx="2">83495</cx:pt>
          <cx:pt idx="3">104112</cx:pt>
          <cx:pt idx="4">117931</cx:pt>
          <cx:pt idx="5">203707</cx:pt>
        </cx:lvl>
      </cx:numDim>
    </cx:data>
  </cx:chartData>
  <cx:chart>
    <cx:title pos="t" align="ctr" overlay="0"/>
    <cx:plotArea>
      <cx:plotAreaRegion>
        <cx:series layoutId="clusteredColumn" uniqueId="{746C1567-8372-48C5-BB60-6A3742C33772}">
          <cx:tx>
            <cx:txData>
              <cx:f>'Task 9 - Visual Analysis'!$B$16</cx:f>
              <cx:v>Sum of Age of Buyer</cx:v>
            </cx:txData>
          </cx:tx>
          <cx:spPr>
            <a:solidFill>
              <a:schemeClr val="tx2">
                <a:lumMod val="10000"/>
              </a:schemeClr>
            </a:solidFill>
          </cx:spPr>
          <cx:dataLabels>
            <cx:numFmt formatCode="#,##0.00" sourceLinked="0"/>
            <cx:visibility seriesName="0" categoryName="0" value="1"/>
            <cx:separator>, </cx:separator>
          </cx:dataLabels>
          <cx:dataId val="0"/>
          <cx:layoutPr>
            <cx:aggregation/>
          </cx:layoutPr>
          <cx:axisId val="1"/>
        </cx:series>
        <cx:series layoutId="paretoLine" ownerIdx="0" uniqueId="{97B43EB5-BAA8-4936-9B13-CA5E1F8CAC95}">
          <cx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10000"/>
                </a:schemeClr>
              </a:solidFill>
            </a:ln>
          </cx:spPr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0DF02-0D32-4BE8-B057-070E15B527A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962C4-5EFF-41FA-9878-65F390E4E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01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E32A-BCA1-499E-A982-8F1A8E3E5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F7B00-3E22-44F8-9C4A-7A756CDE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D7AAA-B05B-4863-90AD-417108E3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274E5-9AED-4089-B716-49A311A8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3C438-D683-435E-AB1C-B0D9D674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68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8D26-1709-4435-B968-4D80A3B36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9159-1F28-499B-B0D2-F621C6EA9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3844C-8A5B-437D-90B3-B047BCF4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6679A-10E5-4150-B9E4-8C1EE8B4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47ED7-B476-40AE-955D-B3682ABB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42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B047-79A6-446D-A119-C884282E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0008B-A4D9-4B69-BDFE-9C6825570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1500F-7349-4EC8-AD0F-30A3DD393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B4A7-DA01-491D-9E53-2E8E44EE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C19E4-7142-4C8D-B3BB-3CA54F8E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352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9F96-723A-4CE9-A8C9-4B1B74ED3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2FD51-F542-4DA8-93DB-E6A9AF2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14D74-6F73-4145-98B0-B08E8D949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2D12A-9F15-49F4-86E0-7BEC44F0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518BE-DB88-478C-BA5F-DDDED7F00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E1EB4-BB66-4893-806C-FD5D62F4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84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C777-3F12-46C5-9C56-97B33928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89E98-CEB5-428E-A360-6BD0022F3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67AAE-5B8F-4D83-8120-87C44B05A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0CB18B-5B44-482A-AF7E-68DF62DFE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5E9F68-7999-43B0-9F14-7B3A2F214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49565-7685-43D4-8B1F-708C84E9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91BD1-5884-42C9-B3FB-3B75BBA4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165B1-7CCF-4176-8AF1-8CB2EBCE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64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25263-C371-4F19-97CD-FAA813E1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EBD6B-DC9F-4A01-B21B-FC0565F6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42C83-50E0-459F-BC61-20A515A2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2160F-98B6-41CB-BDF8-D3EB6443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88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28BBD5-EC66-47B9-AC84-F138E855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80EBC-F150-4127-BAB6-E82973E1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A722C-2C39-493A-A466-FB9EE9FF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35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E35D-04EE-476B-87A8-78104461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F34A1-8068-417E-9ACA-C99CCDDAB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B7575-F66C-43BC-9D4C-25DDEE9B8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056A0-A33B-4625-8E5B-48C2E25F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DDEA8-E8FA-48BC-AA43-14A0CC59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6D689-B22A-4672-9F7C-3E84F39C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96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DDBF-2F69-4F75-B824-65A2124E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A66C9-D1AF-4F22-AD61-89B8A4688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3F2C6-59B0-4DF5-9BBF-6C97FD15B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2C954-EC83-4783-B2EB-51D4BEC3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CBB94-CBF5-4F44-B505-72C1C45B2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02C8C-A0C7-4DB2-9DBC-C1B5112E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145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17F8-0A99-40EA-B839-5FF559B2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2ECA7-3001-4B09-8679-89F1EC7A9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A9A06-A3B4-406B-9E93-4C2DE6E4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1EBC9-2D0C-4DF3-A003-98A7A0E7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25B9B-703D-4E34-9193-F4AC03BA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1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924BC-B932-4458-A151-A8867E593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B4B2-2DA9-4268-8618-D121F5186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DEDEC-72F7-4850-B9F9-F01FC55B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8C07C-55E9-49F7-B4B7-61499F6D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09D72-AFE9-4A3A-ACB6-E8DFA8AE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72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tx2"/>
            </a:gs>
            <a:gs pos="23000">
              <a:schemeClr val="tx2">
                <a:lumMod val="90000"/>
              </a:schemeClr>
            </a:gs>
            <a:gs pos="69000">
              <a:schemeClr val="tx2">
                <a:lumMod val="50000"/>
              </a:schemeClr>
            </a:gs>
            <a:gs pos="97000">
              <a:schemeClr val="bg1">
                <a:lumMod val="95000"/>
                <a:lumOff val="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00A4E-C822-4A7C-8C32-4B103435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4A55E-1C73-4252-829A-57C720515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F2D63-64BD-4EA0-A425-3000376D9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04A45-CFDE-47CB-9740-38448B3F70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782FC-04D6-46F4-8A85-6F8DE9545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824C-081E-4D01-817F-1A7507FB7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FC539-D193-45D9-B9BA-9E20E68AB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97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14/relationships/chartEx" Target="../charts/chartEx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7.xml"/><Relationship Id="rId3" Type="http://schemas.microsoft.com/office/2014/relationships/chartEx" Target="../charts/chartEx2.xml"/><Relationship Id="rId7" Type="http://schemas.openxmlformats.org/officeDocument/2006/relationships/chart" Target="../charts/chart16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5429">
            <a:extLst>
              <a:ext uri="{FF2B5EF4-FFF2-40B4-BE49-F238E27FC236}">
                <a16:creationId xmlns:a16="http://schemas.microsoft.com/office/drawing/2014/main" id="{3EE17F26-11C3-4030-8924-71A20CDA7B79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30"/>
          <a:stretch/>
        </p:blipFill>
        <p:spPr>
          <a:xfrm>
            <a:off x="7070725" y="0"/>
            <a:ext cx="512127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560ECE-2FDC-4973-93B5-A7DFA588C830}"/>
              </a:ext>
            </a:extLst>
          </p:cNvPr>
          <p:cNvSpPr txBox="1"/>
          <p:nvPr/>
        </p:nvSpPr>
        <p:spPr>
          <a:xfrm flipH="1">
            <a:off x="68094" y="48642"/>
            <a:ext cx="7002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RETAIL ANALYTICS | CAPSTONE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2CFA3-C0B2-426C-A597-B3C5F95BC856}"/>
              </a:ext>
            </a:extLst>
          </p:cNvPr>
          <p:cNvSpPr txBox="1"/>
          <p:nvPr/>
        </p:nvSpPr>
        <p:spPr>
          <a:xfrm flipH="1">
            <a:off x="68094" y="622570"/>
            <a:ext cx="7002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Retail Revenue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21E32-47CC-40B3-8522-02EA78A02C98}"/>
              </a:ext>
            </a:extLst>
          </p:cNvPr>
          <p:cNvSpPr txBox="1"/>
          <p:nvPr/>
        </p:nvSpPr>
        <p:spPr>
          <a:xfrm flipH="1">
            <a:off x="68091" y="3010254"/>
            <a:ext cx="7002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For Leadership Decision Making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AE0949-4FB8-4B4C-9343-2E2BFAED0540}"/>
              </a:ext>
            </a:extLst>
          </p:cNvPr>
          <p:cNvSpPr txBox="1"/>
          <p:nvPr/>
        </p:nvSpPr>
        <p:spPr>
          <a:xfrm flipH="1">
            <a:off x="113812" y="3737983"/>
            <a:ext cx="6956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/>
              <a:t>Turning retail data into actionable business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6E964-687C-4345-87C1-E599B42C3010}"/>
              </a:ext>
            </a:extLst>
          </p:cNvPr>
          <p:cNvSpPr txBox="1"/>
          <p:nvPr/>
        </p:nvSpPr>
        <p:spPr>
          <a:xfrm>
            <a:off x="68091" y="5719864"/>
            <a:ext cx="7002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/>
              <a:t>Presented by: Sushreesangita Behera</a:t>
            </a:r>
          </a:p>
          <a:p>
            <a:r>
              <a:rPr lang="en-IN" sz="2400" b="1" i="1" dirty="0"/>
              <a:t>Date: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5E44B9-E83B-446E-AECD-87EAC0C212D2}"/>
              </a:ext>
            </a:extLst>
          </p:cNvPr>
          <p:cNvSpPr txBox="1"/>
          <p:nvPr/>
        </p:nvSpPr>
        <p:spPr>
          <a:xfrm flipH="1">
            <a:off x="2577827" y="3629689"/>
            <a:ext cx="2697481" cy="73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996F9-4448-4A2B-9945-7E6C3DDA52A5}"/>
              </a:ext>
            </a:extLst>
          </p:cNvPr>
          <p:cNvSpPr/>
          <p:nvPr/>
        </p:nvSpPr>
        <p:spPr>
          <a:xfrm>
            <a:off x="175095" y="510307"/>
            <a:ext cx="749030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D4594A38-FE02-4D72-B1AB-9D32CE948D1A}"/>
              </a:ext>
            </a:extLst>
          </p:cNvPr>
          <p:cNvSpPr/>
          <p:nvPr/>
        </p:nvSpPr>
        <p:spPr>
          <a:xfrm flipV="1">
            <a:off x="175095" y="2561562"/>
            <a:ext cx="505840" cy="305738"/>
          </a:xfrm>
          <a:prstGeom prst="chevron">
            <a:avLst/>
          </a:prstGeom>
          <a:gradFill>
            <a:gsLst>
              <a:gs pos="0">
                <a:schemeClr val="tx2"/>
              </a:gs>
              <a:gs pos="23000">
                <a:schemeClr val="tx2">
                  <a:lumMod val="90000"/>
                </a:schemeClr>
              </a:gs>
              <a:gs pos="69000">
                <a:schemeClr val="tx2">
                  <a:lumMod val="50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  <a:scene3d>
            <a:camera prst="orthographicFront"/>
            <a:lightRig rig="threePt" dir="t"/>
          </a:scene3d>
          <a:sp3d contourW="12700" prstMaterial="dkEdge">
            <a:bevelB/>
            <a:contourClr>
              <a:schemeClr val="tx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B4B71A97-CB26-4864-8C91-8A81CC024FFB}"/>
              </a:ext>
            </a:extLst>
          </p:cNvPr>
          <p:cNvSpPr/>
          <p:nvPr/>
        </p:nvSpPr>
        <p:spPr>
          <a:xfrm flipV="1">
            <a:off x="943580" y="2561836"/>
            <a:ext cx="505840" cy="305738"/>
          </a:xfrm>
          <a:prstGeom prst="chevron">
            <a:avLst/>
          </a:prstGeom>
          <a:gradFill>
            <a:gsLst>
              <a:gs pos="0">
                <a:schemeClr val="tx2"/>
              </a:gs>
              <a:gs pos="23000">
                <a:schemeClr val="tx2">
                  <a:lumMod val="90000"/>
                </a:schemeClr>
              </a:gs>
              <a:gs pos="69000">
                <a:schemeClr val="tx2">
                  <a:lumMod val="50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  <a:scene3d>
            <a:camera prst="orthographicFront"/>
            <a:lightRig rig="threePt" dir="t"/>
          </a:scene3d>
          <a:sp3d contourW="12700" prstMaterial="dkEdge">
            <a:bevelB/>
            <a:contourClr>
              <a:schemeClr val="tx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041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E3659C-6E30-45A2-81C1-35C95001B7FF}"/>
              </a:ext>
            </a:extLst>
          </p:cNvPr>
          <p:cNvSpPr/>
          <p:nvPr/>
        </p:nvSpPr>
        <p:spPr>
          <a:xfrm>
            <a:off x="319373" y="2232498"/>
            <a:ext cx="2645926" cy="4533090"/>
          </a:xfrm>
          <a:custGeom>
            <a:avLst/>
            <a:gdLst>
              <a:gd name="connsiteX0" fmla="*/ 0 w 2840477"/>
              <a:gd name="connsiteY0" fmla="*/ 0 h 4392038"/>
              <a:gd name="connsiteX1" fmla="*/ 2840477 w 2840477"/>
              <a:gd name="connsiteY1" fmla="*/ 0 h 4392038"/>
              <a:gd name="connsiteX2" fmla="*/ 2840477 w 2840477"/>
              <a:gd name="connsiteY2" fmla="*/ 4392038 h 4392038"/>
              <a:gd name="connsiteX3" fmla="*/ 0 w 2840477"/>
              <a:gd name="connsiteY3" fmla="*/ 4392038 h 4392038"/>
              <a:gd name="connsiteX4" fmla="*/ 0 w 2840477"/>
              <a:gd name="connsiteY4" fmla="*/ 0 h 4392038"/>
              <a:gd name="connsiteX0" fmla="*/ 0 w 2840477"/>
              <a:gd name="connsiteY0" fmla="*/ 0 h 4392038"/>
              <a:gd name="connsiteX1" fmla="*/ 2840477 w 2840477"/>
              <a:gd name="connsiteY1" fmla="*/ 0 h 4392038"/>
              <a:gd name="connsiteX2" fmla="*/ 2840477 w 2840477"/>
              <a:gd name="connsiteY2" fmla="*/ 4392038 h 4392038"/>
              <a:gd name="connsiteX3" fmla="*/ 1507789 w 2840477"/>
              <a:gd name="connsiteY3" fmla="*/ 4387175 h 4392038"/>
              <a:gd name="connsiteX4" fmla="*/ 0 w 2840477"/>
              <a:gd name="connsiteY4" fmla="*/ 4392038 h 4392038"/>
              <a:gd name="connsiteX5" fmla="*/ 0 w 2840477"/>
              <a:gd name="connsiteY5" fmla="*/ 0 h 4392038"/>
              <a:gd name="connsiteX0" fmla="*/ 0 w 2840477"/>
              <a:gd name="connsiteY0" fmla="*/ 0 h 5252936"/>
              <a:gd name="connsiteX1" fmla="*/ 2840477 w 2840477"/>
              <a:gd name="connsiteY1" fmla="*/ 0 h 5252936"/>
              <a:gd name="connsiteX2" fmla="*/ 2840477 w 2840477"/>
              <a:gd name="connsiteY2" fmla="*/ 4392038 h 5252936"/>
              <a:gd name="connsiteX3" fmla="*/ 1449423 w 2840477"/>
              <a:gd name="connsiteY3" fmla="*/ 5252936 h 5252936"/>
              <a:gd name="connsiteX4" fmla="*/ 0 w 2840477"/>
              <a:gd name="connsiteY4" fmla="*/ 4392038 h 5252936"/>
              <a:gd name="connsiteX5" fmla="*/ 0 w 2840477"/>
              <a:gd name="connsiteY5" fmla="*/ 0 h 5252936"/>
              <a:gd name="connsiteX0" fmla="*/ 0 w 2840477"/>
              <a:gd name="connsiteY0" fmla="*/ 0 h 5272392"/>
              <a:gd name="connsiteX1" fmla="*/ 2840477 w 2840477"/>
              <a:gd name="connsiteY1" fmla="*/ 0 h 5272392"/>
              <a:gd name="connsiteX2" fmla="*/ 2840477 w 2840477"/>
              <a:gd name="connsiteY2" fmla="*/ 4392038 h 5272392"/>
              <a:gd name="connsiteX3" fmla="*/ 1361874 w 2840477"/>
              <a:gd name="connsiteY3" fmla="*/ 5272392 h 5272392"/>
              <a:gd name="connsiteX4" fmla="*/ 0 w 2840477"/>
              <a:gd name="connsiteY4" fmla="*/ 4392038 h 5272392"/>
              <a:gd name="connsiteX5" fmla="*/ 0 w 2840477"/>
              <a:gd name="connsiteY5" fmla="*/ 0 h 5272392"/>
              <a:gd name="connsiteX0" fmla="*/ 0 w 2840477"/>
              <a:gd name="connsiteY0" fmla="*/ 0 h 5272392"/>
              <a:gd name="connsiteX1" fmla="*/ 2840477 w 2840477"/>
              <a:gd name="connsiteY1" fmla="*/ 0 h 5272392"/>
              <a:gd name="connsiteX2" fmla="*/ 2840477 w 2840477"/>
              <a:gd name="connsiteY2" fmla="*/ 4392038 h 5272392"/>
              <a:gd name="connsiteX3" fmla="*/ 1410513 w 2840477"/>
              <a:gd name="connsiteY3" fmla="*/ 5272392 h 5272392"/>
              <a:gd name="connsiteX4" fmla="*/ 0 w 2840477"/>
              <a:gd name="connsiteY4" fmla="*/ 4392038 h 5272392"/>
              <a:gd name="connsiteX5" fmla="*/ 0 w 2840477"/>
              <a:gd name="connsiteY5" fmla="*/ 0 h 5272392"/>
              <a:gd name="connsiteX0" fmla="*/ 0 w 2840477"/>
              <a:gd name="connsiteY0" fmla="*/ 0 h 5262664"/>
              <a:gd name="connsiteX1" fmla="*/ 2840477 w 2840477"/>
              <a:gd name="connsiteY1" fmla="*/ 0 h 5262664"/>
              <a:gd name="connsiteX2" fmla="*/ 2840477 w 2840477"/>
              <a:gd name="connsiteY2" fmla="*/ 4392038 h 5262664"/>
              <a:gd name="connsiteX3" fmla="*/ 1420241 w 2840477"/>
              <a:gd name="connsiteY3" fmla="*/ 5262664 h 5262664"/>
              <a:gd name="connsiteX4" fmla="*/ 0 w 2840477"/>
              <a:gd name="connsiteY4" fmla="*/ 4392038 h 5262664"/>
              <a:gd name="connsiteX5" fmla="*/ 0 w 2840477"/>
              <a:gd name="connsiteY5" fmla="*/ 0 h 5262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0477" h="5262664">
                <a:moveTo>
                  <a:pt x="0" y="0"/>
                </a:moveTo>
                <a:lnTo>
                  <a:pt x="2840477" y="0"/>
                </a:lnTo>
                <a:lnTo>
                  <a:pt x="2840477" y="4392038"/>
                </a:lnTo>
                <a:lnTo>
                  <a:pt x="1420241" y="5262664"/>
                </a:lnTo>
                <a:lnTo>
                  <a:pt x="0" y="43920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/>
              </a:gs>
              <a:gs pos="23000">
                <a:schemeClr val="tx1"/>
              </a:gs>
              <a:gs pos="69000">
                <a:schemeClr val="tx2">
                  <a:lumMod val="75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42D9F90-9A63-4681-8CEF-53976B0A7504}"/>
              </a:ext>
            </a:extLst>
          </p:cNvPr>
          <p:cNvSpPr/>
          <p:nvPr/>
        </p:nvSpPr>
        <p:spPr>
          <a:xfrm>
            <a:off x="3279826" y="2232498"/>
            <a:ext cx="2645926" cy="4533090"/>
          </a:xfrm>
          <a:custGeom>
            <a:avLst/>
            <a:gdLst>
              <a:gd name="connsiteX0" fmla="*/ 0 w 2840477"/>
              <a:gd name="connsiteY0" fmla="*/ 0 h 4392038"/>
              <a:gd name="connsiteX1" fmla="*/ 2840477 w 2840477"/>
              <a:gd name="connsiteY1" fmla="*/ 0 h 4392038"/>
              <a:gd name="connsiteX2" fmla="*/ 2840477 w 2840477"/>
              <a:gd name="connsiteY2" fmla="*/ 4392038 h 4392038"/>
              <a:gd name="connsiteX3" fmla="*/ 0 w 2840477"/>
              <a:gd name="connsiteY3" fmla="*/ 4392038 h 4392038"/>
              <a:gd name="connsiteX4" fmla="*/ 0 w 2840477"/>
              <a:gd name="connsiteY4" fmla="*/ 0 h 4392038"/>
              <a:gd name="connsiteX0" fmla="*/ 0 w 2840477"/>
              <a:gd name="connsiteY0" fmla="*/ 0 h 4392038"/>
              <a:gd name="connsiteX1" fmla="*/ 2840477 w 2840477"/>
              <a:gd name="connsiteY1" fmla="*/ 0 h 4392038"/>
              <a:gd name="connsiteX2" fmla="*/ 2840477 w 2840477"/>
              <a:gd name="connsiteY2" fmla="*/ 4392038 h 4392038"/>
              <a:gd name="connsiteX3" fmla="*/ 1507789 w 2840477"/>
              <a:gd name="connsiteY3" fmla="*/ 4387175 h 4392038"/>
              <a:gd name="connsiteX4" fmla="*/ 0 w 2840477"/>
              <a:gd name="connsiteY4" fmla="*/ 4392038 h 4392038"/>
              <a:gd name="connsiteX5" fmla="*/ 0 w 2840477"/>
              <a:gd name="connsiteY5" fmla="*/ 0 h 4392038"/>
              <a:gd name="connsiteX0" fmla="*/ 0 w 2840477"/>
              <a:gd name="connsiteY0" fmla="*/ 0 h 5252936"/>
              <a:gd name="connsiteX1" fmla="*/ 2840477 w 2840477"/>
              <a:gd name="connsiteY1" fmla="*/ 0 h 5252936"/>
              <a:gd name="connsiteX2" fmla="*/ 2840477 w 2840477"/>
              <a:gd name="connsiteY2" fmla="*/ 4392038 h 5252936"/>
              <a:gd name="connsiteX3" fmla="*/ 1449423 w 2840477"/>
              <a:gd name="connsiteY3" fmla="*/ 5252936 h 5252936"/>
              <a:gd name="connsiteX4" fmla="*/ 0 w 2840477"/>
              <a:gd name="connsiteY4" fmla="*/ 4392038 h 5252936"/>
              <a:gd name="connsiteX5" fmla="*/ 0 w 2840477"/>
              <a:gd name="connsiteY5" fmla="*/ 0 h 5252936"/>
              <a:gd name="connsiteX0" fmla="*/ 0 w 2840477"/>
              <a:gd name="connsiteY0" fmla="*/ 0 h 5272392"/>
              <a:gd name="connsiteX1" fmla="*/ 2840477 w 2840477"/>
              <a:gd name="connsiteY1" fmla="*/ 0 h 5272392"/>
              <a:gd name="connsiteX2" fmla="*/ 2840477 w 2840477"/>
              <a:gd name="connsiteY2" fmla="*/ 4392038 h 5272392"/>
              <a:gd name="connsiteX3" fmla="*/ 1361874 w 2840477"/>
              <a:gd name="connsiteY3" fmla="*/ 5272392 h 5272392"/>
              <a:gd name="connsiteX4" fmla="*/ 0 w 2840477"/>
              <a:gd name="connsiteY4" fmla="*/ 4392038 h 5272392"/>
              <a:gd name="connsiteX5" fmla="*/ 0 w 2840477"/>
              <a:gd name="connsiteY5" fmla="*/ 0 h 5272392"/>
              <a:gd name="connsiteX0" fmla="*/ 0 w 2840477"/>
              <a:gd name="connsiteY0" fmla="*/ 0 h 5272392"/>
              <a:gd name="connsiteX1" fmla="*/ 2840477 w 2840477"/>
              <a:gd name="connsiteY1" fmla="*/ 0 h 5272392"/>
              <a:gd name="connsiteX2" fmla="*/ 2840477 w 2840477"/>
              <a:gd name="connsiteY2" fmla="*/ 4392038 h 5272392"/>
              <a:gd name="connsiteX3" fmla="*/ 1410513 w 2840477"/>
              <a:gd name="connsiteY3" fmla="*/ 5272392 h 5272392"/>
              <a:gd name="connsiteX4" fmla="*/ 0 w 2840477"/>
              <a:gd name="connsiteY4" fmla="*/ 4392038 h 5272392"/>
              <a:gd name="connsiteX5" fmla="*/ 0 w 2840477"/>
              <a:gd name="connsiteY5" fmla="*/ 0 h 5272392"/>
              <a:gd name="connsiteX0" fmla="*/ 0 w 2840477"/>
              <a:gd name="connsiteY0" fmla="*/ 0 h 5262664"/>
              <a:gd name="connsiteX1" fmla="*/ 2840477 w 2840477"/>
              <a:gd name="connsiteY1" fmla="*/ 0 h 5262664"/>
              <a:gd name="connsiteX2" fmla="*/ 2840477 w 2840477"/>
              <a:gd name="connsiteY2" fmla="*/ 4392038 h 5262664"/>
              <a:gd name="connsiteX3" fmla="*/ 1420241 w 2840477"/>
              <a:gd name="connsiteY3" fmla="*/ 5262664 h 5262664"/>
              <a:gd name="connsiteX4" fmla="*/ 0 w 2840477"/>
              <a:gd name="connsiteY4" fmla="*/ 4392038 h 5262664"/>
              <a:gd name="connsiteX5" fmla="*/ 0 w 2840477"/>
              <a:gd name="connsiteY5" fmla="*/ 0 h 5262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0477" h="5262664">
                <a:moveTo>
                  <a:pt x="0" y="0"/>
                </a:moveTo>
                <a:lnTo>
                  <a:pt x="2840477" y="0"/>
                </a:lnTo>
                <a:lnTo>
                  <a:pt x="2840477" y="4392038"/>
                </a:lnTo>
                <a:lnTo>
                  <a:pt x="1420241" y="5262664"/>
                </a:lnTo>
                <a:lnTo>
                  <a:pt x="0" y="43920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/>
              </a:gs>
              <a:gs pos="23000">
                <a:schemeClr val="tx1"/>
              </a:gs>
              <a:gs pos="69000">
                <a:schemeClr val="tx2">
                  <a:lumMod val="75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48D20C6-376A-444F-81AE-6E8D01B1D96A}"/>
              </a:ext>
            </a:extLst>
          </p:cNvPr>
          <p:cNvSpPr/>
          <p:nvPr/>
        </p:nvSpPr>
        <p:spPr>
          <a:xfrm>
            <a:off x="6261371" y="2232498"/>
            <a:ext cx="2645926" cy="4533090"/>
          </a:xfrm>
          <a:custGeom>
            <a:avLst/>
            <a:gdLst>
              <a:gd name="connsiteX0" fmla="*/ 0 w 2840477"/>
              <a:gd name="connsiteY0" fmla="*/ 0 h 4392038"/>
              <a:gd name="connsiteX1" fmla="*/ 2840477 w 2840477"/>
              <a:gd name="connsiteY1" fmla="*/ 0 h 4392038"/>
              <a:gd name="connsiteX2" fmla="*/ 2840477 w 2840477"/>
              <a:gd name="connsiteY2" fmla="*/ 4392038 h 4392038"/>
              <a:gd name="connsiteX3" fmla="*/ 0 w 2840477"/>
              <a:gd name="connsiteY3" fmla="*/ 4392038 h 4392038"/>
              <a:gd name="connsiteX4" fmla="*/ 0 w 2840477"/>
              <a:gd name="connsiteY4" fmla="*/ 0 h 4392038"/>
              <a:gd name="connsiteX0" fmla="*/ 0 w 2840477"/>
              <a:gd name="connsiteY0" fmla="*/ 0 h 4392038"/>
              <a:gd name="connsiteX1" fmla="*/ 2840477 w 2840477"/>
              <a:gd name="connsiteY1" fmla="*/ 0 h 4392038"/>
              <a:gd name="connsiteX2" fmla="*/ 2840477 w 2840477"/>
              <a:gd name="connsiteY2" fmla="*/ 4392038 h 4392038"/>
              <a:gd name="connsiteX3" fmla="*/ 1507789 w 2840477"/>
              <a:gd name="connsiteY3" fmla="*/ 4387175 h 4392038"/>
              <a:gd name="connsiteX4" fmla="*/ 0 w 2840477"/>
              <a:gd name="connsiteY4" fmla="*/ 4392038 h 4392038"/>
              <a:gd name="connsiteX5" fmla="*/ 0 w 2840477"/>
              <a:gd name="connsiteY5" fmla="*/ 0 h 4392038"/>
              <a:gd name="connsiteX0" fmla="*/ 0 w 2840477"/>
              <a:gd name="connsiteY0" fmla="*/ 0 h 5252936"/>
              <a:gd name="connsiteX1" fmla="*/ 2840477 w 2840477"/>
              <a:gd name="connsiteY1" fmla="*/ 0 h 5252936"/>
              <a:gd name="connsiteX2" fmla="*/ 2840477 w 2840477"/>
              <a:gd name="connsiteY2" fmla="*/ 4392038 h 5252936"/>
              <a:gd name="connsiteX3" fmla="*/ 1449423 w 2840477"/>
              <a:gd name="connsiteY3" fmla="*/ 5252936 h 5252936"/>
              <a:gd name="connsiteX4" fmla="*/ 0 w 2840477"/>
              <a:gd name="connsiteY4" fmla="*/ 4392038 h 5252936"/>
              <a:gd name="connsiteX5" fmla="*/ 0 w 2840477"/>
              <a:gd name="connsiteY5" fmla="*/ 0 h 5252936"/>
              <a:gd name="connsiteX0" fmla="*/ 0 w 2840477"/>
              <a:gd name="connsiteY0" fmla="*/ 0 h 5272392"/>
              <a:gd name="connsiteX1" fmla="*/ 2840477 w 2840477"/>
              <a:gd name="connsiteY1" fmla="*/ 0 h 5272392"/>
              <a:gd name="connsiteX2" fmla="*/ 2840477 w 2840477"/>
              <a:gd name="connsiteY2" fmla="*/ 4392038 h 5272392"/>
              <a:gd name="connsiteX3" fmla="*/ 1361874 w 2840477"/>
              <a:gd name="connsiteY3" fmla="*/ 5272392 h 5272392"/>
              <a:gd name="connsiteX4" fmla="*/ 0 w 2840477"/>
              <a:gd name="connsiteY4" fmla="*/ 4392038 h 5272392"/>
              <a:gd name="connsiteX5" fmla="*/ 0 w 2840477"/>
              <a:gd name="connsiteY5" fmla="*/ 0 h 5272392"/>
              <a:gd name="connsiteX0" fmla="*/ 0 w 2840477"/>
              <a:gd name="connsiteY0" fmla="*/ 0 h 5272392"/>
              <a:gd name="connsiteX1" fmla="*/ 2840477 w 2840477"/>
              <a:gd name="connsiteY1" fmla="*/ 0 h 5272392"/>
              <a:gd name="connsiteX2" fmla="*/ 2840477 w 2840477"/>
              <a:gd name="connsiteY2" fmla="*/ 4392038 h 5272392"/>
              <a:gd name="connsiteX3" fmla="*/ 1410513 w 2840477"/>
              <a:gd name="connsiteY3" fmla="*/ 5272392 h 5272392"/>
              <a:gd name="connsiteX4" fmla="*/ 0 w 2840477"/>
              <a:gd name="connsiteY4" fmla="*/ 4392038 h 5272392"/>
              <a:gd name="connsiteX5" fmla="*/ 0 w 2840477"/>
              <a:gd name="connsiteY5" fmla="*/ 0 h 5272392"/>
              <a:gd name="connsiteX0" fmla="*/ 0 w 2840477"/>
              <a:gd name="connsiteY0" fmla="*/ 0 h 5262664"/>
              <a:gd name="connsiteX1" fmla="*/ 2840477 w 2840477"/>
              <a:gd name="connsiteY1" fmla="*/ 0 h 5262664"/>
              <a:gd name="connsiteX2" fmla="*/ 2840477 w 2840477"/>
              <a:gd name="connsiteY2" fmla="*/ 4392038 h 5262664"/>
              <a:gd name="connsiteX3" fmla="*/ 1420241 w 2840477"/>
              <a:gd name="connsiteY3" fmla="*/ 5262664 h 5262664"/>
              <a:gd name="connsiteX4" fmla="*/ 0 w 2840477"/>
              <a:gd name="connsiteY4" fmla="*/ 4392038 h 5262664"/>
              <a:gd name="connsiteX5" fmla="*/ 0 w 2840477"/>
              <a:gd name="connsiteY5" fmla="*/ 0 h 5262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0477" h="5262664">
                <a:moveTo>
                  <a:pt x="0" y="0"/>
                </a:moveTo>
                <a:lnTo>
                  <a:pt x="2840477" y="0"/>
                </a:lnTo>
                <a:lnTo>
                  <a:pt x="2840477" y="4392038"/>
                </a:lnTo>
                <a:lnTo>
                  <a:pt x="1420241" y="5262664"/>
                </a:lnTo>
                <a:lnTo>
                  <a:pt x="0" y="43920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/>
              </a:gs>
              <a:gs pos="23000">
                <a:schemeClr val="tx1"/>
              </a:gs>
              <a:gs pos="69000">
                <a:schemeClr val="tx2">
                  <a:lumMod val="75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511724D-96B5-4856-94FF-08CEA582CA54}"/>
              </a:ext>
            </a:extLst>
          </p:cNvPr>
          <p:cNvSpPr/>
          <p:nvPr/>
        </p:nvSpPr>
        <p:spPr>
          <a:xfrm>
            <a:off x="9221824" y="2232498"/>
            <a:ext cx="2645926" cy="4533090"/>
          </a:xfrm>
          <a:custGeom>
            <a:avLst/>
            <a:gdLst>
              <a:gd name="connsiteX0" fmla="*/ 0 w 2840477"/>
              <a:gd name="connsiteY0" fmla="*/ 0 h 4392038"/>
              <a:gd name="connsiteX1" fmla="*/ 2840477 w 2840477"/>
              <a:gd name="connsiteY1" fmla="*/ 0 h 4392038"/>
              <a:gd name="connsiteX2" fmla="*/ 2840477 w 2840477"/>
              <a:gd name="connsiteY2" fmla="*/ 4392038 h 4392038"/>
              <a:gd name="connsiteX3" fmla="*/ 0 w 2840477"/>
              <a:gd name="connsiteY3" fmla="*/ 4392038 h 4392038"/>
              <a:gd name="connsiteX4" fmla="*/ 0 w 2840477"/>
              <a:gd name="connsiteY4" fmla="*/ 0 h 4392038"/>
              <a:gd name="connsiteX0" fmla="*/ 0 w 2840477"/>
              <a:gd name="connsiteY0" fmla="*/ 0 h 4392038"/>
              <a:gd name="connsiteX1" fmla="*/ 2840477 w 2840477"/>
              <a:gd name="connsiteY1" fmla="*/ 0 h 4392038"/>
              <a:gd name="connsiteX2" fmla="*/ 2840477 w 2840477"/>
              <a:gd name="connsiteY2" fmla="*/ 4392038 h 4392038"/>
              <a:gd name="connsiteX3" fmla="*/ 1507789 w 2840477"/>
              <a:gd name="connsiteY3" fmla="*/ 4387175 h 4392038"/>
              <a:gd name="connsiteX4" fmla="*/ 0 w 2840477"/>
              <a:gd name="connsiteY4" fmla="*/ 4392038 h 4392038"/>
              <a:gd name="connsiteX5" fmla="*/ 0 w 2840477"/>
              <a:gd name="connsiteY5" fmla="*/ 0 h 4392038"/>
              <a:gd name="connsiteX0" fmla="*/ 0 w 2840477"/>
              <a:gd name="connsiteY0" fmla="*/ 0 h 5252936"/>
              <a:gd name="connsiteX1" fmla="*/ 2840477 w 2840477"/>
              <a:gd name="connsiteY1" fmla="*/ 0 h 5252936"/>
              <a:gd name="connsiteX2" fmla="*/ 2840477 w 2840477"/>
              <a:gd name="connsiteY2" fmla="*/ 4392038 h 5252936"/>
              <a:gd name="connsiteX3" fmla="*/ 1449423 w 2840477"/>
              <a:gd name="connsiteY3" fmla="*/ 5252936 h 5252936"/>
              <a:gd name="connsiteX4" fmla="*/ 0 w 2840477"/>
              <a:gd name="connsiteY4" fmla="*/ 4392038 h 5252936"/>
              <a:gd name="connsiteX5" fmla="*/ 0 w 2840477"/>
              <a:gd name="connsiteY5" fmla="*/ 0 h 5252936"/>
              <a:gd name="connsiteX0" fmla="*/ 0 w 2840477"/>
              <a:gd name="connsiteY0" fmla="*/ 0 h 5272392"/>
              <a:gd name="connsiteX1" fmla="*/ 2840477 w 2840477"/>
              <a:gd name="connsiteY1" fmla="*/ 0 h 5272392"/>
              <a:gd name="connsiteX2" fmla="*/ 2840477 w 2840477"/>
              <a:gd name="connsiteY2" fmla="*/ 4392038 h 5272392"/>
              <a:gd name="connsiteX3" fmla="*/ 1361874 w 2840477"/>
              <a:gd name="connsiteY3" fmla="*/ 5272392 h 5272392"/>
              <a:gd name="connsiteX4" fmla="*/ 0 w 2840477"/>
              <a:gd name="connsiteY4" fmla="*/ 4392038 h 5272392"/>
              <a:gd name="connsiteX5" fmla="*/ 0 w 2840477"/>
              <a:gd name="connsiteY5" fmla="*/ 0 h 5272392"/>
              <a:gd name="connsiteX0" fmla="*/ 0 w 2840477"/>
              <a:gd name="connsiteY0" fmla="*/ 0 h 5272392"/>
              <a:gd name="connsiteX1" fmla="*/ 2840477 w 2840477"/>
              <a:gd name="connsiteY1" fmla="*/ 0 h 5272392"/>
              <a:gd name="connsiteX2" fmla="*/ 2840477 w 2840477"/>
              <a:gd name="connsiteY2" fmla="*/ 4392038 h 5272392"/>
              <a:gd name="connsiteX3" fmla="*/ 1410513 w 2840477"/>
              <a:gd name="connsiteY3" fmla="*/ 5272392 h 5272392"/>
              <a:gd name="connsiteX4" fmla="*/ 0 w 2840477"/>
              <a:gd name="connsiteY4" fmla="*/ 4392038 h 5272392"/>
              <a:gd name="connsiteX5" fmla="*/ 0 w 2840477"/>
              <a:gd name="connsiteY5" fmla="*/ 0 h 5272392"/>
              <a:gd name="connsiteX0" fmla="*/ 0 w 2840477"/>
              <a:gd name="connsiteY0" fmla="*/ 0 h 5262664"/>
              <a:gd name="connsiteX1" fmla="*/ 2840477 w 2840477"/>
              <a:gd name="connsiteY1" fmla="*/ 0 h 5262664"/>
              <a:gd name="connsiteX2" fmla="*/ 2840477 w 2840477"/>
              <a:gd name="connsiteY2" fmla="*/ 4392038 h 5262664"/>
              <a:gd name="connsiteX3" fmla="*/ 1420241 w 2840477"/>
              <a:gd name="connsiteY3" fmla="*/ 5262664 h 5262664"/>
              <a:gd name="connsiteX4" fmla="*/ 0 w 2840477"/>
              <a:gd name="connsiteY4" fmla="*/ 4392038 h 5262664"/>
              <a:gd name="connsiteX5" fmla="*/ 0 w 2840477"/>
              <a:gd name="connsiteY5" fmla="*/ 0 h 5262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0477" h="5262664">
                <a:moveTo>
                  <a:pt x="0" y="0"/>
                </a:moveTo>
                <a:lnTo>
                  <a:pt x="2840477" y="0"/>
                </a:lnTo>
                <a:lnTo>
                  <a:pt x="2840477" y="4392038"/>
                </a:lnTo>
                <a:lnTo>
                  <a:pt x="1420241" y="5262664"/>
                </a:lnTo>
                <a:lnTo>
                  <a:pt x="0" y="43920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/>
              </a:gs>
              <a:gs pos="23000">
                <a:schemeClr val="tx1"/>
              </a:gs>
              <a:gs pos="69000">
                <a:schemeClr val="tx2">
                  <a:lumMod val="75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bbon: Tilted Down 11">
            <a:extLst>
              <a:ext uri="{FF2B5EF4-FFF2-40B4-BE49-F238E27FC236}">
                <a16:creationId xmlns:a16="http://schemas.microsoft.com/office/drawing/2014/main" id="{19DECDC1-294B-4220-9D64-3B896DF44129}"/>
              </a:ext>
            </a:extLst>
          </p:cNvPr>
          <p:cNvSpPr/>
          <p:nvPr/>
        </p:nvSpPr>
        <p:spPr>
          <a:xfrm>
            <a:off x="319373" y="1669106"/>
            <a:ext cx="2645926" cy="685800"/>
          </a:xfrm>
          <a:prstGeom prst="ribbon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⚠️</a:t>
            </a:r>
          </a:p>
        </p:txBody>
      </p:sp>
      <p:sp>
        <p:nvSpPr>
          <p:cNvPr id="13" name="Ribbon: Tilted Down 12">
            <a:extLst>
              <a:ext uri="{FF2B5EF4-FFF2-40B4-BE49-F238E27FC236}">
                <a16:creationId xmlns:a16="http://schemas.microsoft.com/office/drawing/2014/main" id="{4E9D0CCB-D962-45F2-B93E-EBF0F710A24A}"/>
              </a:ext>
            </a:extLst>
          </p:cNvPr>
          <p:cNvSpPr/>
          <p:nvPr/>
        </p:nvSpPr>
        <p:spPr>
          <a:xfrm>
            <a:off x="3279826" y="1660188"/>
            <a:ext cx="2645926" cy="685800"/>
          </a:xfrm>
          <a:prstGeom prst="ribbon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🔎</a:t>
            </a:r>
          </a:p>
        </p:txBody>
      </p:sp>
      <p:sp>
        <p:nvSpPr>
          <p:cNvPr id="14" name="Ribbon: Tilted Down 13">
            <a:extLst>
              <a:ext uri="{FF2B5EF4-FFF2-40B4-BE49-F238E27FC236}">
                <a16:creationId xmlns:a16="http://schemas.microsoft.com/office/drawing/2014/main" id="{9D1075A6-2C2D-460D-AF12-1018C14E6C41}"/>
              </a:ext>
            </a:extLst>
          </p:cNvPr>
          <p:cNvSpPr/>
          <p:nvPr/>
        </p:nvSpPr>
        <p:spPr>
          <a:xfrm>
            <a:off x="6261371" y="1660188"/>
            <a:ext cx="2645926" cy="685800"/>
          </a:xfrm>
          <a:prstGeom prst="ribbon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🎯</a:t>
            </a:r>
          </a:p>
        </p:txBody>
      </p:sp>
      <p:sp>
        <p:nvSpPr>
          <p:cNvPr id="15" name="Ribbon: Tilted Down 14">
            <a:extLst>
              <a:ext uri="{FF2B5EF4-FFF2-40B4-BE49-F238E27FC236}">
                <a16:creationId xmlns:a16="http://schemas.microsoft.com/office/drawing/2014/main" id="{A85B2E34-45E7-4198-8ACC-5F34B0B595F6}"/>
              </a:ext>
            </a:extLst>
          </p:cNvPr>
          <p:cNvSpPr/>
          <p:nvPr/>
        </p:nvSpPr>
        <p:spPr>
          <a:xfrm>
            <a:off x="9221824" y="1660188"/>
            <a:ext cx="2645926" cy="685800"/>
          </a:xfrm>
          <a:prstGeom prst="ribbon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📊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84B55-402E-414C-B8A7-E2DF3FA1D74F}"/>
              </a:ext>
            </a:extLst>
          </p:cNvPr>
          <p:cNvSpPr txBox="1"/>
          <p:nvPr/>
        </p:nvSpPr>
        <p:spPr>
          <a:xfrm>
            <a:off x="329919" y="2454814"/>
            <a:ext cx="2624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latin typeface="Adobe Caslon Pro Bold" panose="0205070206050A020403" pitchFamily="18" charset="0"/>
              </a:rPr>
              <a:t>The Challenge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492B16-2FD4-4DBB-AE7D-D153EE2A599B}"/>
              </a:ext>
            </a:extLst>
          </p:cNvPr>
          <p:cNvSpPr txBox="1"/>
          <p:nvPr/>
        </p:nvSpPr>
        <p:spPr>
          <a:xfrm>
            <a:off x="3290372" y="2454814"/>
            <a:ext cx="2624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latin typeface="Adobe Caslon Pro Bold" panose="0205070206050A020403" pitchFamily="18" charset="0"/>
              </a:rPr>
              <a:t>Key Challenges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CC379E-8B17-43EE-80E4-D8EAE9135212}"/>
              </a:ext>
            </a:extLst>
          </p:cNvPr>
          <p:cNvSpPr txBox="1"/>
          <p:nvPr/>
        </p:nvSpPr>
        <p:spPr>
          <a:xfrm>
            <a:off x="6261371" y="2454813"/>
            <a:ext cx="264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latin typeface="Adobe Caslon Pro" panose="0205050205050A020403" pitchFamily="18" charset="0"/>
              </a:rPr>
              <a:t>Project Objective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5849C8-8CD5-4AE3-9119-05078BA50DCB}"/>
              </a:ext>
            </a:extLst>
          </p:cNvPr>
          <p:cNvSpPr txBox="1"/>
          <p:nvPr/>
        </p:nvSpPr>
        <p:spPr>
          <a:xfrm>
            <a:off x="9153728" y="2454812"/>
            <a:ext cx="2789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latin typeface="Adobe Caslon Pro Bold" panose="0205070206050A020403" pitchFamily="18" charset="0"/>
              </a:rPr>
              <a:t>Expected Outcomes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E13143-6C10-45F6-B6DB-37AEC1DC4DDC}"/>
              </a:ext>
            </a:extLst>
          </p:cNvPr>
          <p:cNvSpPr txBox="1"/>
          <p:nvPr/>
        </p:nvSpPr>
        <p:spPr>
          <a:xfrm flipH="1">
            <a:off x="0" y="23833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u="sng" dirty="0">
                <a:latin typeface="Adobe Caslon Pro Bold" panose="0205070206050A020403" pitchFamily="18" charset="0"/>
              </a:rPr>
              <a:t>Project Overview &amp; Problem Statement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00C768-76B1-46E6-BD32-84CEF782651C}"/>
              </a:ext>
            </a:extLst>
          </p:cNvPr>
          <p:cNvSpPr txBox="1"/>
          <p:nvPr/>
        </p:nvSpPr>
        <p:spPr>
          <a:xfrm flipH="1">
            <a:off x="329919" y="3077795"/>
            <a:ext cx="26248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The B&amp;J Biscuit Company cannot clearly understand its sales performance due to unclean, unstructured, and disconnected datasets.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6E6C5A-1FA6-4009-B899-9B3AD20EE953}"/>
              </a:ext>
            </a:extLst>
          </p:cNvPr>
          <p:cNvSpPr txBox="1"/>
          <p:nvPr/>
        </p:nvSpPr>
        <p:spPr>
          <a:xfrm flipH="1">
            <a:off x="3287919" y="3077795"/>
            <a:ext cx="26248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Inconsistent buyer information, missing product links.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 Lack of consolidated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 Difficult to identify top-performing products or evaluate sales representative performance.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75EAA8-777C-4763-9DE9-FC3CBA000C68}"/>
              </a:ext>
            </a:extLst>
          </p:cNvPr>
          <p:cNvSpPr txBox="1"/>
          <p:nvPr/>
        </p:nvSpPr>
        <p:spPr>
          <a:xfrm flipH="1">
            <a:off x="6271916" y="3079415"/>
            <a:ext cx="26248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Clean, organize, and merge transaction data with product details to create an interactive dashboard that supports data-driven leadership decisions.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B98E50-15A1-4AAC-9AFD-16E780CA8B89}"/>
              </a:ext>
            </a:extLst>
          </p:cNvPr>
          <p:cNvSpPr txBox="1"/>
          <p:nvPr/>
        </p:nvSpPr>
        <p:spPr>
          <a:xfrm flipH="1">
            <a:off x="9235643" y="3090151"/>
            <a:ext cx="26248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Identify top-performing products, buyers, and sales representatives.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Analyse revenue, cost, profit, and profit margin drivers.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Measure sales across locations and payment methods.</a:t>
            </a:r>
          </a:p>
        </p:txBody>
      </p:sp>
    </p:spTree>
    <p:extLst>
      <p:ext uri="{BB962C8B-B14F-4D97-AF65-F5344CB8AC3E}">
        <p14:creationId xmlns:p14="http://schemas.microsoft.com/office/powerpoint/2010/main" val="2221046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1">
            <a:extLst>
              <a:ext uri="{FF2B5EF4-FFF2-40B4-BE49-F238E27FC236}">
                <a16:creationId xmlns:a16="http://schemas.microsoft.com/office/drawing/2014/main" id="{D2DC707D-2368-4624-8B10-DCD43FD4C56F}"/>
              </a:ext>
            </a:extLst>
          </p:cNvPr>
          <p:cNvSpPr/>
          <p:nvPr/>
        </p:nvSpPr>
        <p:spPr>
          <a:xfrm rot="10800000">
            <a:off x="11136283" y="0"/>
            <a:ext cx="1055717" cy="1064029"/>
          </a:xfrm>
          <a:custGeom>
            <a:avLst/>
            <a:gdLst>
              <a:gd name="connsiteX0" fmla="*/ 0 w 1055717"/>
              <a:gd name="connsiteY0" fmla="*/ 914400 h 914400"/>
              <a:gd name="connsiteX1" fmla="*/ 527859 w 1055717"/>
              <a:gd name="connsiteY1" fmla="*/ 0 h 914400"/>
              <a:gd name="connsiteX2" fmla="*/ 1055717 w 1055717"/>
              <a:gd name="connsiteY2" fmla="*/ 914400 h 914400"/>
              <a:gd name="connsiteX3" fmla="*/ 0 w 1055717"/>
              <a:gd name="connsiteY3" fmla="*/ 914400 h 914400"/>
              <a:gd name="connsiteX0" fmla="*/ 0 w 1055717"/>
              <a:gd name="connsiteY0" fmla="*/ 1064029 h 1064029"/>
              <a:gd name="connsiteX1" fmla="*/ 4157 w 1055717"/>
              <a:gd name="connsiteY1" fmla="*/ 0 h 1064029"/>
              <a:gd name="connsiteX2" fmla="*/ 1055717 w 1055717"/>
              <a:gd name="connsiteY2" fmla="*/ 1064029 h 1064029"/>
              <a:gd name="connsiteX3" fmla="*/ 0 w 1055717"/>
              <a:gd name="connsiteY3" fmla="*/ 1064029 h 106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717" h="1064029">
                <a:moveTo>
                  <a:pt x="0" y="1064029"/>
                </a:moveTo>
                <a:cubicBezTo>
                  <a:pt x="1386" y="709353"/>
                  <a:pt x="2771" y="354676"/>
                  <a:pt x="4157" y="0"/>
                </a:cubicBezTo>
                <a:lnTo>
                  <a:pt x="1055717" y="1064029"/>
                </a:lnTo>
                <a:lnTo>
                  <a:pt x="0" y="106402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23000">
                <a:schemeClr val="tx2">
                  <a:lumMod val="90000"/>
                </a:schemeClr>
              </a:gs>
              <a:gs pos="69000">
                <a:schemeClr val="tx2">
                  <a:lumMod val="50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5F26B06-CEFF-4A9F-8C9D-E1F64C673DC8}"/>
              </a:ext>
            </a:extLst>
          </p:cNvPr>
          <p:cNvSpPr/>
          <p:nvPr/>
        </p:nvSpPr>
        <p:spPr>
          <a:xfrm rot="8110539">
            <a:off x="11437841" y="-340704"/>
            <a:ext cx="197090" cy="2037451"/>
          </a:xfrm>
          <a:custGeom>
            <a:avLst/>
            <a:gdLst>
              <a:gd name="connsiteX0" fmla="*/ 0 w 299973"/>
              <a:gd name="connsiteY0" fmla="*/ 0 h 2171362"/>
              <a:gd name="connsiteX1" fmla="*/ 299973 w 299973"/>
              <a:gd name="connsiteY1" fmla="*/ 0 h 2171362"/>
              <a:gd name="connsiteX2" fmla="*/ 299973 w 299973"/>
              <a:gd name="connsiteY2" fmla="*/ 2171362 h 2171362"/>
              <a:gd name="connsiteX3" fmla="*/ 0 w 299973"/>
              <a:gd name="connsiteY3" fmla="*/ 2171362 h 2171362"/>
              <a:gd name="connsiteX4" fmla="*/ 0 w 299973"/>
              <a:gd name="connsiteY4" fmla="*/ 0 h 2171362"/>
              <a:gd name="connsiteX0" fmla="*/ 0 w 301590"/>
              <a:gd name="connsiteY0" fmla="*/ 129306 h 2171362"/>
              <a:gd name="connsiteX1" fmla="*/ 301590 w 301590"/>
              <a:gd name="connsiteY1" fmla="*/ 0 h 2171362"/>
              <a:gd name="connsiteX2" fmla="*/ 301590 w 301590"/>
              <a:gd name="connsiteY2" fmla="*/ 2171362 h 2171362"/>
              <a:gd name="connsiteX3" fmla="*/ 1617 w 301590"/>
              <a:gd name="connsiteY3" fmla="*/ 2171362 h 2171362"/>
              <a:gd name="connsiteX4" fmla="*/ 0 w 301590"/>
              <a:gd name="connsiteY4" fmla="*/ 129306 h 2171362"/>
              <a:gd name="connsiteX0" fmla="*/ 0 w 301590"/>
              <a:gd name="connsiteY0" fmla="*/ 206669 h 2248725"/>
              <a:gd name="connsiteX1" fmla="*/ 226138 w 301590"/>
              <a:gd name="connsiteY1" fmla="*/ 0 h 2248725"/>
              <a:gd name="connsiteX2" fmla="*/ 301590 w 301590"/>
              <a:gd name="connsiteY2" fmla="*/ 2248725 h 2248725"/>
              <a:gd name="connsiteX3" fmla="*/ 1617 w 301590"/>
              <a:gd name="connsiteY3" fmla="*/ 2248725 h 2248725"/>
              <a:gd name="connsiteX4" fmla="*/ 0 w 301590"/>
              <a:gd name="connsiteY4" fmla="*/ 206669 h 2248725"/>
              <a:gd name="connsiteX0" fmla="*/ 14324 w 315914"/>
              <a:gd name="connsiteY0" fmla="*/ 206669 h 2248725"/>
              <a:gd name="connsiteX1" fmla="*/ 240462 w 315914"/>
              <a:gd name="connsiteY1" fmla="*/ 0 h 2248725"/>
              <a:gd name="connsiteX2" fmla="*/ 315914 w 315914"/>
              <a:gd name="connsiteY2" fmla="*/ 2248725 h 2248725"/>
              <a:gd name="connsiteX3" fmla="*/ 0 w 315914"/>
              <a:gd name="connsiteY3" fmla="*/ 2113322 h 2248725"/>
              <a:gd name="connsiteX4" fmla="*/ 14324 w 315914"/>
              <a:gd name="connsiteY4" fmla="*/ 206669 h 2248725"/>
              <a:gd name="connsiteX0" fmla="*/ 14324 w 325464"/>
              <a:gd name="connsiteY0" fmla="*/ 206669 h 2425198"/>
              <a:gd name="connsiteX1" fmla="*/ 240462 w 325464"/>
              <a:gd name="connsiteY1" fmla="*/ 0 h 2425198"/>
              <a:gd name="connsiteX2" fmla="*/ 325464 w 325464"/>
              <a:gd name="connsiteY2" fmla="*/ 2425198 h 2425198"/>
              <a:gd name="connsiteX3" fmla="*/ 0 w 325464"/>
              <a:gd name="connsiteY3" fmla="*/ 2113322 h 2425198"/>
              <a:gd name="connsiteX4" fmla="*/ 14324 w 325464"/>
              <a:gd name="connsiteY4" fmla="*/ 206669 h 2425198"/>
              <a:gd name="connsiteX0" fmla="*/ 0 w 311140"/>
              <a:gd name="connsiteY0" fmla="*/ 206669 h 2425198"/>
              <a:gd name="connsiteX1" fmla="*/ 226138 w 311140"/>
              <a:gd name="connsiteY1" fmla="*/ 0 h 2425198"/>
              <a:gd name="connsiteX2" fmla="*/ 311140 w 311140"/>
              <a:gd name="connsiteY2" fmla="*/ 2425198 h 2425198"/>
              <a:gd name="connsiteX3" fmla="*/ 15578 w 311140"/>
              <a:gd name="connsiteY3" fmla="*/ 2072545 h 2425198"/>
              <a:gd name="connsiteX4" fmla="*/ 0 w 311140"/>
              <a:gd name="connsiteY4" fmla="*/ 206669 h 2425198"/>
              <a:gd name="connsiteX0" fmla="*/ 0 w 323777"/>
              <a:gd name="connsiteY0" fmla="*/ 206669 h 2354814"/>
              <a:gd name="connsiteX1" fmla="*/ 226138 w 323777"/>
              <a:gd name="connsiteY1" fmla="*/ 0 h 2354814"/>
              <a:gd name="connsiteX2" fmla="*/ 323777 w 323777"/>
              <a:gd name="connsiteY2" fmla="*/ 2354814 h 2354814"/>
              <a:gd name="connsiteX3" fmla="*/ 15578 w 323777"/>
              <a:gd name="connsiteY3" fmla="*/ 2072545 h 2354814"/>
              <a:gd name="connsiteX4" fmla="*/ 0 w 323777"/>
              <a:gd name="connsiteY4" fmla="*/ 206669 h 2354814"/>
              <a:gd name="connsiteX0" fmla="*/ 0 w 288954"/>
              <a:gd name="connsiteY0" fmla="*/ 206669 h 2319108"/>
              <a:gd name="connsiteX1" fmla="*/ 226138 w 288954"/>
              <a:gd name="connsiteY1" fmla="*/ 0 h 2319108"/>
              <a:gd name="connsiteX2" fmla="*/ 288954 w 288954"/>
              <a:gd name="connsiteY2" fmla="*/ 2319108 h 2319108"/>
              <a:gd name="connsiteX3" fmla="*/ 15578 w 288954"/>
              <a:gd name="connsiteY3" fmla="*/ 2072545 h 2319108"/>
              <a:gd name="connsiteX4" fmla="*/ 0 w 288954"/>
              <a:gd name="connsiteY4" fmla="*/ 206669 h 2319108"/>
              <a:gd name="connsiteX0" fmla="*/ 0 w 288954"/>
              <a:gd name="connsiteY0" fmla="*/ 206669 h 2319108"/>
              <a:gd name="connsiteX1" fmla="*/ 226138 w 288954"/>
              <a:gd name="connsiteY1" fmla="*/ 0 h 2319108"/>
              <a:gd name="connsiteX2" fmla="*/ 288954 w 288954"/>
              <a:gd name="connsiteY2" fmla="*/ 2319108 h 2319108"/>
              <a:gd name="connsiteX3" fmla="*/ 21530 w 288954"/>
              <a:gd name="connsiteY3" fmla="*/ 2066741 h 2319108"/>
              <a:gd name="connsiteX4" fmla="*/ 0 w 288954"/>
              <a:gd name="connsiteY4" fmla="*/ 206669 h 2319108"/>
              <a:gd name="connsiteX0" fmla="*/ 24167 w 313121"/>
              <a:gd name="connsiteY0" fmla="*/ 206669 h 2319108"/>
              <a:gd name="connsiteX1" fmla="*/ 250305 w 313121"/>
              <a:gd name="connsiteY1" fmla="*/ 0 h 2319108"/>
              <a:gd name="connsiteX2" fmla="*/ 313121 w 313121"/>
              <a:gd name="connsiteY2" fmla="*/ 2319108 h 2319108"/>
              <a:gd name="connsiteX3" fmla="*/ 0 w 313121"/>
              <a:gd name="connsiteY3" fmla="*/ 1960357 h 2319108"/>
              <a:gd name="connsiteX4" fmla="*/ 24167 w 313121"/>
              <a:gd name="connsiteY4" fmla="*/ 206669 h 2319108"/>
              <a:gd name="connsiteX0" fmla="*/ 24167 w 250305"/>
              <a:gd name="connsiteY0" fmla="*/ 206669 h 2218087"/>
              <a:gd name="connsiteX1" fmla="*/ 250305 w 250305"/>
              <a:gd name="connsiteY1" fmla="*/ 0 h 2218087"/>
              <a:gd name="connsiteX2" fmla="*/ 226208 w 250305"/>
              <a:gd name="connsiteY2" fmla="*/ 2218087 h 2218087"/>
              <a:gd name="connsiteX3" fmla="*/ 0 w 250305"/>
              <a:gd name="connsiteY3" fmla="*/ 1960357 h 2218087"/>
              <a:gd name="connsiteX4" fmla="*/ 24167 w 250305"/>
              <a:gd name="connsiteY4" fmla="*/ 206669 h 2218087"/>
              <a:gd name="connsiteX0" fmla="*/ 24167 w 250305"/>
              <a:gd name="connsiteY0" fmla="*/ 206669 h 2118243"/>
              <a:gd name="connsiteX1" fmla="*/ 250305 w 250305"/>
              <a:gd name="connsiteY1" fmla="*/ 0 h 2118243"/>
              <a:gd name="connsiteX2" fmla="*/ 233334 w 250305"/>
              <a:gd name="connsiteY2" fmla="*/ 2118243 h 2118243"/>
              <a:gd name="connsiteX3" fmla="*/ 0 w 250305"/>
              <a:gd name="connsiteY3" fmla="*/ 1960357 h 2118243"/>
              <a:gd name="connsiteX4" fmla="*/ 24167 w 250305"/>
              <a:gd name="connsiteY4" fmla="*/ 206669 h 2118243"/>
              <a:gd name="connsiteX0" fmla="*/ 0 w 226138"/>
              <a:gd name="connsiteY0" fmla="*/ 206669 h 2118243"/>
              <a:gd name="connsiteX1" fmla="*/ 226138 w 226138"/>
              <a:gd name="connsiteY1" fmla="*/ 0 h 2118243"/>
              <a:gd name="connsiteX2" fmla="*/ 209167 w 226138"/>
              <a:gd name="connsiteY2" fmla="*/ 2118243 h 2118243"/>
              <a:gd name="connsiteX3" fmla="*/ 5588 w 226138"/>
              <a:gd name="connsiteY3" fmla="*/ 1931337 h 2118243"/>
              <a:gd name="connsiteX4" fmla="*/ 0 w 226138"/>
              <a:gd name="connsiteY4" fmla="*/ 206669 h 211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138" h="2118243">
                <a:moveTo>
                  <a:pt x="0" y="206669"/>
                </a:moveTo>
                <a:lnTo>
                  <a:pt x="226138" y="0"/>
                </a:lnTo>
                <a:lnTo>
                  <a:pt x="209167" y="2118243"/>
                </a:lnTo>
                <a:lnTo>
                  <a:pt x="5588" y="1931337"/>
                </a:lnTo>
                <a:cubicBezTo>
                  <a:pt x="3725" y="1356448"/>
                  <a:pt x="1863" y="781558"/>
                  <a:pt x="0" y="206669"/>
                </a:cubicBezTo>
                <a:close/>
              </a:path>
            </a:pathLst>
          </a:custGeom>
          <a:gradFill>
            <a:gsLst>
              <a:gs pos="0">
                <a:schemeClr val="tx2"/>
              </a:gs>
              <a:gs pos="23000">
                <a:schemeClr val="tx2">
                  <a:lumMod val="90000"/>
                </a:schemeClr>
              </a:gs>
              <a:gs pos="69000">
                <a:schemeClr val="tx2">
                  <a:lumMod val="50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F383F2-40B2-4255-91B1-7982CB548333}"/>
              </a:ext>
            </a:extLst>
          </p:cNvPr>
          <p:cNvSpPr/>
          <p:nvPr/>
        </p:nvSpPr>
        <p:spPr>
          <a:xfrm>
            <a:off x="175097" y="78980"/>
            <a:ext cx="149685" cy="884847"/>
          </a:xfrm>
          <a:prstGeom prst="roundRect">
            <a:avLst/>
          </a:prstGeom>
          <a:gradFill>
            <a:gsLst>
              <a:gs pos="0">
                <a:schemeClr val="tx2"/>
              </a:gs>
              <a:gs pos="23000">
                <a:schemeClr val="tx2">
                  <a:lumMod val="90000"/>
                </a:schemeClr>
              </a:gs>
              <a:gs pos="69000">
                <a:schemeClr val="tx2">
                  <a:lumMod val="50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0243A-93A9-4E96-B9CE-E9A7DB38FDF7}"/>
              </a:ext>
            </a:extLst>
          </p:cNvPr>
          <p:cNvSpPr txBox="1"/>
          <p:nvPr/>
        </p:nvSpPr>
        <p:spPr>
          <a:xfrm flipH="1">
            <a:off x="457200" y="78980"/>
            <a:ext cx="1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Task 1-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9DB20-A4D5-4F37-A5DD-FA16D5DD0F12}"/>
              </a:ext>
            </a:extLst>
          </p:cNvPr>
          <p:cNvSpPr txBox="1"/>
          <p:nvPr/>
        </p:nvSpPr>
        <p:spPr>
          <a:xfrm flipH="1">
            <a:off x="508601" y="544003"/>
            <a:ext cx="6446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dobe Caslon Pro Bold" panose="0205070206050A020403" pitchFamily="18" charset="0"/>
              </a:rPr>
              <a:t>Data Cleaning &amp; Formatting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EFA37A-71C6-443C-BC55-A3DBB920CD0B}"/>
              </a:ext>
            </a:extLst>
          </p:cNvPr>
          <p:cNvCxnSpPr>
            <a:cxnSpLocks/>
          </p:cNvCxnSpPr>
          <p:nvPr/>
        </p:nvCxnSpPr>
        <p:spPr>
          <a:xfrm>
            <a:off x="1250711" y="1255429"/>
            <a:ext cx="0" cy="734447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C0ED53D-8510-4ED8-BF74-31EE0426A94A}"/>
              </a:ext>
            </a:extLst>
          </p:cNvPr>
          <p:cNvSpPr txBox="1"/>
          <p:nvPr/>
        </p:nvSpPr>
        <p:spPr>
          <a:xfrm flipH="1">
            <a:off x="1577109" y="1239762"/>
            <a:ext cx="28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dobe Caslon Pro Bold" panose="0205070206050A020403" pitchFamily="18" charset="0"/>
              </a:rPr>
              <a:t>OBJECTIVE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75D1EB-CD56-4ED0-A833-E1BE85F030CE}"/>
              </a:ext>
            </a:extLst>
          </p:cNvPr>
          <p:cNvSpPr txBox="1"/>
          <p:nvPr/>
        </p:nvSpPr>
        <p:spPr>
          <a:xfrm flipH="1">
            <a:off x="1589466" y="1637130"/>
            <a:ext cx="10257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dobe Caslon Pro Bold" panose="0205070206050A020403" pitchFamily="18" charset="0"/>
              </a:rPr>
              <a:t>Clean, standardize, and format raw transaction data for accurate analysis.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0212FB-39B3-4868-8836-07A35C7ABF41}"/>
              </a:ext>
            </a:extLst>
          </p:cNvPr>
          <p:cNvSpPr txBox="1"/>
          <p:nvPr/>
        </p:nvSpPr>
        <p:spPr>
          <a:xfrm rot="10800000" flipH="1" flipV="1">
            <a:off x="220816" y="853966"/>
            <a:ext cx="849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5400" dirty="0"/>
              <a:t>🎯</a:t>
            </a:r>
            <a:r>
              <a:rPr lang="en-IN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0DAD48-3D46-4BCF-AAAF-1AC7E8D605CC}"/>
              </a:ext>
            </a:extLst>
          </p:cNvPr>
          <p:cNvSpPr txBox="1"/>
          <p:nvPr/>
        </p:nvSpPr>
        <p:spPr>
          <a:xfrm>
            <a:off x="324782" y="2177758"/>
            <a:ext cx="6543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dobe Caslon Pro Bold" panose="0205070206050A020403" pitchFamily="18" charset="0"/>
              </a:rPr>
              <a:t>CORE PROBLEM-SOLVING POINTS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A3DAC6-0F02-4AE9-B7E3-F4A0BE05B1E2}"/>
              </a:ext>
            </a:extLst>
          </p:cNvPr>
          <p:cNvCxnSpPr>
            <a:cxnSpLocks/>
          </p:cNvCxnSpPr>
          <p:nvPr/>
        </p:nvCxnSpPr>
        <p:spPr>
          <a:xfrm flipH="1">
            <a:off x="5009740" y="2324910"/>
            <a:ext cx="7033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Bookmark">
            <a:extLst>
              <a:ext uri="{FF2B5EF4-FFF2-40B4-BE49-F238E27FC236}">
                <a16:creationId xmlns:a16="http://schemas.microsoft.com/office/drawing/2014/main" id="{912D3CEE-12C0-48CB-A401-E6E420408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40738" y="160190"/>
            <a:ext cx="4708186" cy="6853089"/>
          </a:xfrm>
          <a:prstGeom prst="rect">
            <a:avLst/>
          </a:prstGeom>
        </p:spPr>
      </p:pic>
      <p:pic>
        <p:nvPicPr>
          <p:cNvPr id="33" name="Graphic 32" descr="Bookmark">
            <a:extLst>
              <a:ext uri="{FF2B5EF4-FFF2-40B4-BE49-F238E27FC236}">
                <a16:creationId xmlns:a16="http://schemas.microsoft.com/office/drawing/2014/main" id="{29E29AA2-F783-42A9-A1EB-46C2CFA22D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40738" y="2313924"/>
            <a:ext cx="4708186" cy="6853089"/>
          </a:xfrm>
          <a:prstGeom prst="rect">
            <a:avLst/>
          </a:prstGeom>
        </p:spPr>
      </p:pic>
      <p:pic>
        <p:nvPicPr>
          <p:cNvPr id="34" name="Graphic 33" descr="Bookmark">
            <a:extLst>
              <a:ext uri="{FF2B5EF4-FFF2-40B4-BE49-F238E27FC236}">
                <a16:creationId xmlns:a16="http://schemas.microsoft.com/office/drawing/2014/main" id="{301F28F0-5842-449B-B117-587121906E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691180" y="160189"/>
            <a:ext cx="4708186" cy="6853089"/>
          </a:xfrm>
          <a:prstGeom prst="rect">
            <a:avLst/>
          </a:prstGeom>
        </p:spPr>
      </p:pic>
      <p:pic>
        <p:nvPicPr>
          <p:cNvPr id="35" name="Graphic 34" descr="Bookmark">
            <a:extLst>
              <a:ext uri="{FF2B5EF4-FFF2-40B4-BE49-F238E27FC236}">
                <a16:creationId xmlns:a16="http://schemas.microsoft.com/office/drawing/2014/main" id="{3E409C24-557B-44B2-BA47-F008F33DE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691184" y="2313913"/>
            <a:ext cx="4708186" cy="685308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D1525E1-7FC0-48E9-887B-2D4E2DEBE4B7}"/>
              </a:ext>
            </a:extLst>
          </p:cNvPr>
          <p:cNvSpPr txBox="1"/>
          <p:nvPr/>
        </p:nvSpPr>
        <p:spPr>
          <a:xfrm flipH="1">
            <a:off x="324782" y="3263567"/>
            <a:ext cx="84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dobe Caslon Pro Bold" panose="0205070206050A020403" pitchFamily="18" charset="0"/>
              </a:rPr>
              <a:t>01.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1F5153-217D-42D6-998F-254CBD3F2389}"/>
              </a:ext>
            </a:extLst>
          </p:cNvPr>
          <p:cNvSpPr txBox="1"/>
          <p:nvPr/>
        </p:nvSpPr>
        <p:spPr>
          <a:xfrm flipH="1">
            <a:off x="324782" y="5417291"/>
            <a:ext cx="84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dobe Caslon Pro Bold" panose="0205070206050A020403" pitchFamily="18" charset="0"/>
              </a:rPr>
              <a:t>03.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E5EA66-1555-4C80-9D58-57B446BA4E03}"/>
              </a:ext>
            </a:extLst>
          </p:cNvPr>
          <p:cNvSpPr txBox="1"/>
          <p:nvPr/>
        </p:nvSpPr>
        <p:spPr>
          <a:xfrm flipH="1">
            <a:off x="11111780" y="3263566"/>
            <a:ext cx="84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dobe Caslon Pro Bold" panose="0205070206050A020403" pitchFamily="18" charset="0"/>
              </a:rPr>
              <a:t>02.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EF9AB9-6785-4F59-8CF5-B26EB6C30954}"/>
              </a:ext>
            </a:extLst>
          </p:cNvPr>
          <p:cNvSpPr txBox="1"/>
          <p:nvPr/>
        </p:nvSpPr>
        <p:spPr>
          <a:xfrm flipH="1">
            <a:off x="11111779" y="5617662"/>
            <a:ext cx="84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dobe Caslon Pro Bold" panose="0205070206050A020403" pitchFamily="18" charset="0"/>
              </a:rPr>
              <a:t>04.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21DB74-2F10-4281-96D8-2586B8BF9A5C}"/>
              </a:ext>
            </a:extLst>
          </p:cNvPr>
          <p:cNvSpPr txBox="1"/>
          <p:nvPr/>
        </p:nvSpPr>
        <p:spPr>
          <a:xfrm flipH="1">
            <a:off x="1173991" y="2676495"/>
            <a:ext cx="4444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Removing Noise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B5D7E0-0B4D-4574-8CF9-F5942792DD83}"/>
              </a:ext>
            </a:extLst>
          </p:cNvPr>
          <p:cNvSpPr txBox="1"/>
          <p:nvPr/>
        </p:nvSpPr>
        <p:spPr>
          <a:xfrm flipH="1">
            <a:off x="1173990" y="4896465"/>
            <a:ext cx="4444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u="sng" dirty="0">
                <a:latin typeface="Adobe Caslon Pro Bold" panose="0205070206050A020403" pitchFamily="18" charset="0"/>
              </a:rPr>
              <a:t>Casing Standardization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29F9EA-3487-47A9-A238-39D8BE307A72}"/>
              </a:ext>
            </a:extLst>
          </p:cNvPr>
          <p:cNvSpPr txBox="1"/>
          <p:nvPr/>
        </p:nvSpPr>
        <p:spPr>
          <a:xfrm flipH="1">
            <a:off x="6521376" y="2740346"/>
            <a:ext cx="4444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u="sng" dirty="0">
                <a:latin typeface="Adobe Caslon Pro Bold" panose="0205070206050A020403" pitchFamily="18" charset="0"/>
              </a:rPr>
              <a:t>Text Splitting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B6B12D-03E2-4411-89DD-E7D849D825E4}"/>
              </a:ext>
            </a:extLst>
          </p:cNvPr>
          <p:cNvSpPr txBox="1"/>
          <p:nvPr/>
        </p:nvSpPr>
        <p:spPr>
          <a:xfrm flipH="1">
            <a:off x="6718454" y="4894070"/>
            <a:ext cx="4444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Structural Organization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349259-3938-46BC-81E1-75206CE3B068}"/>
              </a:ext>
            </a:extLst>
          </p:cNvPr>
          <p:cNvSpPr txBox="1"/>
          <p:nvPr/>
        </p:nvSpPr>
        <p:spPr>
          <a:xfrm>
            <a:off x="1589466" y="3209854"/>
            <a:ext cx="4174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 TRIM( ) and CLEAN( ) functions to eliminate unwanted leading/trailing spaces and non-printable special characters.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2DE8C6-8681-4069-97EE-B5E1126F2DDE}"/>
              </a:ext>
            </a:extLst>
          </p:cNvPr>
          <p:cNvSpPr txBox="1"/>
          <p:nvPr/>
        </p:nvSpPr>
        <p:spPr>
          <a:xfrm>
            <a:off x="6219575" y="3215185"/>
            <a:ext cx="4174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Extract Location from the combined Buyer Name and Location field using Flash Fill (Ctrl + E) or the Text to Columns feature.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A2BB66-3E17-485D-B8C8-74ACA8406F5D}"/>
              </a:ext>
            </a:extLst>
          </p:cNvPr>
          <p:cNvSpPr txBox="1"/>
          <p:nvPr/>
        </p:nvSpPr>
        <p:spPr>
          <a:xfrm>
            <a:off x="1589466" y="5417290"/>
            <a:ext cx="4174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Apply the PROPPER( ) or UPPER( ) function to ensure uniform text formatting across all name and location columns.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CFF9DA-E987-4678-8797-736D1B02EA2F}"/>
              </a:ext>
            </a:extLst>
          </p:cNvPr>
          <p:cNvSpPr txBox="1"/>
          <p:nvPr/>
        </p:nvSpPr>
        <p:spPr>
          <a:xfrm>
            <a:off x="6227709" y="5340663"/>
            <a:ext cx="4174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Convert the cleaned data range into an official Excel Table (Ctrl + T) to apply clear headers and enable auto-filtering.</a:t>
            </a:r>
          </a:p>
        </p:txBody>
      </p:sp>
    </p:spTree>
    <p:extLst>
      <p:ext uri="{BB962C8B-B14F-4D97-AF65-F5344CB8AC3E}">
        <p14:creationId xmlns:p14="http://schemas.microsoft.com/office/powerpoint/2010/main" val="81022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7F5632-FB5E-4A3B-835B-016055305E24}"/>
              </a:ext>
            </a:extLst>
          </p:cNvPr>
          <p:cNvSpPr txBox="1"/>
          <p:nvPr/>
        </p:nvSpPr>
        <p:spPr>
          <a:xfrm flipH="1">
            <a:off x="243188" y="133226"/>
            <a:ext cx="5771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Task 2 – Lookup Mapping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3D282F-D29D-4353-960B-777012EDDE12}"/>
              </a:ext>
            </a:extLst>
          </p:cNvPr>
          <p:cNvSpPr/>
          <p:nvPr/>
        </p:nvSpPr>
        <p:spPr>
          <a:xfrm>
            <a:off x="77821" y="43419"/>
            <a:ext cx="165363" cy="974676"/>
          </a:xfrm>
          <a:prstGeom prst="roundRect">
            <a:avLst/>
          </a:prstGeom>
          <a:gradFill>
            <a:gsLst>
              <a:gs pos="0">
                <a:schemeClr val="tx2"/>
              </a:gs>
              <a:gs pos="23000">
                <a:schemeClr val="tx2"/>
              </a:gs>
              <a:gs pos="53912">
                <a:srgbClr val="949090"/>
              </a:gs>
              <a:gs pos="69000">
                <a:schemeClr val="tx2">
                  <a:lumMod val="50000"/>
                </a:schemeClr>
              </a:gs>
              <a:gs pos="97000">
                <a:schemeClr val="bg1">
                  <a:lumMod val="95000"/>
                  <a:lumOff val="5000"/>
                </a:schemeClr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EE4FA-612F-4C5D-881E-6769FCF493B4}"/>
              </a:ext>
            </a:extLst>
          </p:cNvPr>
          <p:cNvSpPr txBox="1"/>
          <p:nvPr/>
        </p:nvSpPr>
        <p:spPr>
          <a:xfrm flipH="1">
            <a:off x="271465" y="642229"/>
            <a:ext cx="6799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dobe Caslon Pro" panose="0205050205050A020403" pitchFamily="18" charset="0"/>
              </a:rPr>
              <a:t>Connect data | Find values | Build smarter reports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DE3C6-A482-44B7-886F-88896E330EE3}"/>
              </a:ext>
            </a:extLst>
          </p:cNvPr>
          <p:cNvSpPr txBox="1"/>
          <p:nvPr/>
        </p:nvSpPr>
        <p:spPr>
          <a:xfrm flipH="1">
            <a:off x="4742205" y="192768"/>
            <a:ext cx="6130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dobe Caslon Pro Bold" panose="0205070206050A020403" pitchFamily="18" charset="0"/>
              </a:rPr>
              <a:t>(VLOOKUP / XLOOKUP)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0E8AA-B814-4E2C-A58C-B31AC1ECF00B}"/>
              </a:ext>
            </a:extLst>
          </p:cNvPr>
          <p:cNvSpPr txBox="1"/>
          <p:nvPr/>
        </p:nvSpPr>
        <p:spPr>
          <a:xfrm>
            <a:off x="294125" y="1250908"/>
            <a:ext cx="1996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Adobe Caslon Pro Bold" panose="0205070206050A020403" pitchFamily="18" charset="0"/>
              </a:rPr>
              <a:t>Objective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986EA3-80F0-4395-B783-D5A17CC03887}"/>
              </a:ext>
            </a:extLst>
          </p:cNvPr>
          <p:cNvSpPr txBox="1"/>
          <p:nvPr/>
        </p:nvSpPr>
        <p:spPr>
          <a:xfrm flipH="1">
            <a:off x="3184509" y="1250907"/>
            <a:ext cx="267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Data Enrichment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3240B-AAB1-43AE-8C92-29128270993B}"/>
              </a:ext>
            </a:extLst>
          </p:cNvPr>
          <p:cNvSpPr txBox="1"/>
          <p:nvPr/>
        </p:nvSpPr>
        <p:spPr>
          <a:xfrm>
            <a:off x="77821" y="3250508"/>
            <a:ext cx="2926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latin typeface="Adobe Caslon Pro Bold" panose="0205070206050A020403" pitchFamily="18" charset="0"/>
              </a:rPr>
              <a:t>Strategic Lookups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EAD775-6933-46F5-AD69-8E42952E037A}"/>
              </a:ext>
            </a:extLst>
          </p:cNvPr>
          <p:cNvSpPr txBox="1"/>
          <p:nvPr/>
        </p:nvSpPr>
        <p:spPr>
          <a:xfrm flipH="1">
            <a:off x="2872257" y="3239770"/>
            <a:ext cx="314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Error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39FA0-F533-4F06-84AE-541F7284CB92}"/>
              </a:ext>
            </a:extLst>
          </p:cNvPr>
          <p:cNvSpPr txBox="1"/>
          <p:nvPr/>
        </p:nvSpPr>
        <p:spPr>
          <a:xfrm>
            <a:off x="1681652" y="5521451"/>
            <a:ext cx="3060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latin typeface="Adobe Caslon Pro Bold" panose="0205070206050A020403" pitchFamily="18" charset="0"/>
              </a:rPr>
              <a:t>Financial Formatting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9ACA15-D9C8-49AF-9A4F-B73D2D2B0E6C}"/>
              </a:ext>
            </a:extLst>
          </p:cNvPr>
          <p:cNvSpPr txBox="1"/>
          <p:nvPr/>
        </p:nvSpPr>
        <p:spPr>
          <a:xfrm>
            <a:off x="10416" y="1670166"/>
            <a:ext cx="2997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dobe Caslon Pro" panose="0205050205050A020403" pitchFamily="18" charset="0"/>
              </a:rPr>
              <a:t>Merge the Products reference sheet with the Transaction Data sheet using the common Product Code identifier.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5C09C2-5263-4A1C-B741-9E21E7CEFC5F}"/>
              </a:ext>
            </a:extLst>
          </p:cNvPr>
          <p:cNvSpPr txBox="1"/>
          <p:nvPr/>
        </p:nvSpPr>
        <p:spPr>
          <a:xfrm>
            <a:off x="3034503" y="1709128"/>
            <a:ext cx="2997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Adobe Caslon Pro" panose="0205050205050A020403" pitchFamily="18" charset="0"/>
              </a:rPr>
              <a:t>Efficiently fetch and map Unit Price, Cost, and Product Category fields into the main transaction sheet.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0E4162-8A0D-4A4D-A206-DADD2D71CA83}"/>
              </a:ext>
            </a:extLst>
          </p:cNvPr>
          <p:cNvSpPr txBox="1"/>
          <p:nvPr/>
        </p:nvSpPr>
        <p:spPr>
          <a:xfrm>
            <a:off x="7139" y="3719934"/>
            <a:ext cx="33158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dobe Caslon Pro" panose="0205050205050A020403" pitchFamily="18" charset="0"/>
              </a:rPr>
              <a:t>Utilize XLOOKUP( ) as the primary function for its flexibility (no column index counting needed), failing back on VLOOKUP( ) where legacy compatibility is required.</a:t>
            </a:r>
            <a:endParaRPr lang="en-IN" b="1" dirty="0">
              <a:latin typeface="Adobe Caslon Pro" panose="0205050205050A0204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30D87F-3B00-4714-966B-0C5E36487225}"/>
              </a:ext>
            </a:extLst>
          </p:cNvPr>
          <p:cNvSpPr txBox="1"/>
          <p:nvPr/>
        </p:nvSpPr>
        <p:spPr>
          <a:xfrm>
            <a:off x="3034503" y="3722660"/>
            <a:ext cx="33158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dobe Caslon Pro" panose="0205050205050A020403" pitchFamily="18" charset="0"/>
              </a:rPr>
              <a:t>Wrap lookup formulas inside an IFERROR( ) function to handle missing codes cleanly and avoid broken #N/A displays.</a:t>
            </a:r>
            <a:endParaRPr lang="en-IN" b="1" dirty="0">
              <a:solidFill>
                <a:schemeClr val="bg1"/>
              </a:solidFill>
              <a:latin typeface="Adobe Caslon Pro" panose="0205050205050A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CC49F-540B-48DF-AB1E-5FF88B6D035E}"/>
              </a:ext>
            </a:extLst>
          </p:cNvPr>
          <p:cNvSpPr txBox="1"/>
          <p:nvPr/>
        </p:nvSpPr>
        <p:spPr>
          <a:xfrm>
            <a:off x="-18330" y="5926554"/>
            <a:ext cx="6236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dobe Caslon Pro Bold" panose="0205070206050A020403" pitchFamily="18" charset="0"/>
              </a:rPr>
              <a:t>Apply proper Currency formatting to the newly populated Unit Price and Cost columns to maintain professional data presentation standards.</a:t>
            </a:r>
            <a:endParaRPr lang="en-IN" dirty="0">
              <a:latin typeface="Adobe Caslon Pro Bold" panose="0205070206050A0204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352C94-3FF9-4AD0-A42C-5661BECC4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418545"/>
              </p:ext>
            </p:extLst>
          </p:nvPr>
        </p:nvGraphicFramePr>
        <p:xfrm>
          <a:off x="6063655" y="1302412"/>
          <a:ext cx="3547000" cy="2015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400">
                  <a:extLst>
                    <a:ext uri="{9D8B030D-6E8A-4147-A177-3AD203B41FA5}">
                      <a16:colId xmlns:a16="http://schemas.microsoft.com/office/drawing/2014/main" val="1749212360"/>
                    </a:ext>
                  </a:extLst>
                </a:gridCol>
                <a:gridCol w="709400">
                  <a:extLst>
                    <a:ext uri="{9D8B030D-6E8A-4147-A177-3AD203B41FA5}">
                      <a16:colId xmlns:a16="http://schemas.microsoft.com/office/drawing/2014/main" val="3245600657"/>
                    </a:ext>
                  </a:extLst>
                </a:gridCol>
                <a:gridCol w="709400">
                  <a:extLst>
                    <a:ext uri="{9D8B030D-6E8A-4147-A177-3AD203B41FA5}">
                      <a16:colId xmlns:a16="http://schemas.microsoft.com/office/drawing/2014/main" val="1306569411"/>
                    </a:ext>
                  </a:extLst>
                </a:gridCol>
                <a:gridCol w="709400">
                  <a:extLst>
                    <a:ext uri="{9D8B030D-6E8A-4147-A177-3AD203B41FA5}">
                      <a16:colId xmlns:a16="http://schemas.microsoft.com/office/drawing/2014/main" val="2955948692"/>
                    </a:ext>
                  </a:extLst>
                </a:gridCol>
                <a:gridCol w="709400">
                  <a:extLst>
                    <a:ext uri="{9D8B030D-6E8A-4147-A177-3AD203B41FA5}">
                      <a16:colId xmlns:a16="http://schemas.microsoft.com/office/drawing/2014/main" val="427397910"/>
                    </a:ext>
                  </a:extLst>
                </a:gridCol>
              </a:tblGrid>
              <a:tr h="40095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Transaction Date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Buyer Name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Payment Method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Quantity Purchased</a:t>
                      </a:r>
                      <a:endParaRPr lang="en-IN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Product Code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808132"/>
                  </a:ext>
                </a:extLst>
              </a:tr>
              <a:tr h="406037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45,304.00</a:t>
                      </a:r>
                      <a:endParaRPr lang="en-IN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chemeClr val="bg1"/>
                          </a:solidFill>
                        </a:rPr>
                        <a:t>AllenSantos</a:t>
                      </a:r>
                      <a:endParaRPr lang="en-IN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Credit Card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284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Pro02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76863969"/>
                  </a:ext>
                </a:extLst>
              </a:tr>
              <a:tr h="406037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45,421.00</a:t>
                      </a:r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chemeClr val="bg1"/>
                          </a:solidFill>
                        </a:rPr>
                        <a:t>BrendaShaw</a:t>
                      </a:r>
                      <a:endParaRPr lang="en-IN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Debit Card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90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Pro05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09986400"/>
                  </a:ext>
                </a:extLst>
              </a:tr>
              <a:tr h="406037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45,432.00</a:t>
                      </a:r>
                      <a:endParaRPr lang="en-IN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chemeClr val="bg1"/>
                          </a:solidFill>
                        </a:rPr>
                        <a:t>RobertHernandez</a:t>
                      </a:r>
                      <a:endParaRPr lang="en-IN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Cash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475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Pro04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56545190"/>
                  </a:ext>
                </a:extLst>
              </a:tr>
              <a:tr h="380931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45,410.00</a:t>
                      </a:r>
                      <a:endParaRPr lang="en-IN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Alexander Smith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Debit Card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299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Pro02</a:t>
                      </a:r>
                      <a:endParaRPr lang="en-IN" sz="10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294098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BE2E16-B325-4A01-946C-A9C753FF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903248"/>
              </p:ext>
            </p:extLst>
          </p:nvPr>
        </p:nvGraphicFramePr>
        <p:xfrm>
          <a:off x="9715960" y="1285642"/>
          <a:ext cx="2421216" cy="203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04">
                  <a:extLst>
                    <a:ext uri="{9D8B030D-6E8A-4147-A177-3AD203B41FA5}">
                      <a16:colId xmlns:a16="http://schemas.microsoft.com/office/drawing/2014/main" val="1749212360"/>
                    </a:ext>
                  </a:extLst>
                </a:gridCol>
                <a:gridCol w="605304">
                  <a:extLst>
                    <a:ext uri="{9D8B030D-6E8A-4147-A177-3AD203B41FA5}">
                      <a16:colId xmlns:a16="http://schemas.microsoft.com/office/drawing/2014/main" val="3245600657"/>
                    </a:ext>
                  </a:extLst>
                </a:gridCol>
                <a:gridCol w="605304">
                  <a:extLst>
                    <a:ext uri="{9D8B030D-6E8A-4147-A177-3AD203B41FA5}">
                      <a16:colId xmlns:a16="http://schemas.microsoft.com/office/drawing/2014/main" val="1306569411"/>
                    </a:ext>
                  </a:extLst>
                </a:gridCol>
                <a:gridCol w="605304">
                  <a:extLst>
                    <a:ext uri="{9D8B030D-6E8A-4147-A177-3AD203B41FA5}">
                      <a16:colId xmlns:a16="http://schemas.microsoft.com/office/drawing/2014/main" val="2955948692"/>
                    </a:ext>
                  </a:extLst>
                </a:gridCol>
              </a:tblGrid>
              <a:tr h="40233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Product Code</a:t>
                      </a:r>
                      <a:endParaRPr lang="en-IN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Biscuit Brand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Cost Price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Unit Price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808132"/>
                  </a:ext>
                </a:extLst>
              </a:tr>
              <a:tr h="40743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Pro01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Good Day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10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11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76863969"/>
                  </a:ext>
                </a:extLst>
              </a:tr>
              <a:tr h="40743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Pro02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Britannia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18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22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09986400"/>
                  </a:ext>
                </a:extLst>
              </a:tr>
              <a:tr h="40743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Pro03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/>
                        <a:t>Sunfeast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3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5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56545190"/>
                  </a:ext>
                </a:extLst>
              </a:tr>
              <a:tr h="40743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Pro04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/>
                        <a:t>Malkist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10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14</a:t>
                      </a:r>
                      <a:endParaRPr lang="en-IN" sz="1000" b="1" dirty="0"/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294098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A65D95F-5810-44DB-837A-CC69AE0EE83A}"/>
              </a:ext>
            </a:extLst>
          </p:cNvPr>
          <p:cNvSpPr/>
          <p:nvPr/>
        </p:nvSpPr>
        <p:spPr>
          <a:xfrm rot="10800000" flipV="1">
            <a:off x="6059496" y="801292"/>
            <a:ext cx="3547000" cy="494509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Transaction Data</a:t>
            </a:r>
            <a:endParaRPr lang="en-IN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8CBF8D-83A6-4828-ACA9-3DFE796E244C}"/>
              </a:ext>
            </a:extLst>
          </p:cNvPr>
          <p:cNvSpPr/>
          <p:nvPr/>
        </p:nvSpPr>
        <p:spPr>
          <a:xfrm rot="10800000" flipV="1">
            <a:off x="9689976" y="801293"/>
            <a:ext cx="2447198" cy="478374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Product Reference Data</a:t>
            </a:r>
            <a:endParaRPr lang="en-IN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46D9416-B785-45C7-8391-8AE9554C2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522416"/>
              </p:ext>
            </p:extLst>
          </p:nvPr>
        </p:nvGraphicFramePr>
        <p:xfrm>
          <a:off x="6167336" y="4410305"/>
          <a:ext cx="5969840" cy="2418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30">
                  <a:extLst>
                    <a:ext uri="{9D8B030D-6E8A-4147-A177-3AD203B41FA5}">
                      <a16:colId xmlns:a16="http://schemas.microsoft.com/office/drawing/2014/main" val="3902804498"/>
                    </a:ext>
                  </a:extLst>
                </a:gridCol>
                <a:gridCol w="746230">
                  <a:extLst>
                    <a:ext uri="{9D8B030D-6E8A-4147-A177-3AD203B41FA5}">
                      <a16:colId xmlns:a16="http://schemas.microsoft.com/office/drawing/2014/main" val="2368516392"/>
                    </a:ext>
                  </a:extLst>
                </a:gridCol>
                <a:gridCol w="746230">
                  <a:extLst>
                    <a:ext uri="{9D8B030D-6E8A-4147-A177-3AD203B41FA5}">
                      <a16:colId xmlns:a16="http://schemas.microsoft.com/office/drawing/2014/main" val="1960342670"/>
                    </a:ext>
                  </a:extLst>
                </a:gridCol>
                <a:gridCol w="746230">
                  <a:extLst>
                    <a:ext uri="{9D8B030D-6E8A-4147-A177-3AD203B41FA5}">
                      <a16:colId xmlns:a16="http://schemas.microsoft.com/office/drawing/2014/main" val="3183941034"/>
                    </a:ext>
                  </a:extLst>
                </a:gridCol>
                <a:gridCol w="746230">
                  <a:extLst>
                    <a:ext uri="{9D8B030D-6E8A-4147-A177-3AD203B41FA5}">
                      <a16:colId xmlns:a16="http://schemas.microsoft.com/office/drawing/2014/main" val="3845041831"/>
                    </a:ext>
                  </a:extLst>
                </a:gridCol>
                <a:gridCol w="746230">
                  <a:extLst>
                    <a:ext uri="{9D8B030D-6E8A-4147-A177-3AD203B41FA5}">
                      <a16:colId xmlns:a16="http://schemas.microsoft.com/office/drawing/2014/main" val="1559867368"/>
                    </a:ext>
                  </a:extLst>
                </a:gridCol>
                <a:gridCol w="746230">
                  <a:extLst>
                    <a:ext uri="{9D8B030D-6E8A-4147-A177-3AD203B41FA5}">
                      <a16:colId xmlns:a16="http://schemas.microsoft.com/office/drawing/2014/main" val="2884524756"/>
                    </a:ext>
                  </a:extLst>
                </a:gridCol>
                <a:gridCol w="746230">
                  <a:extLst>
                    <a:ext uri="{9D8B030D-6E8A-4147-A177-3AD203B41FA5}">
                      <a16:colId xmlns:a16="http://schemas.microsoft.com/office/drawing/2014/main" val="3866966845"/>
                    </a:ext>
                  </a:extLst>
                </a:gridCol>
              </a:tblGrid>
              <a:tr h="40715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Transaction Date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Buyer Name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Payment Method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Quantity Purchased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Product Code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Biscuit Brand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 Price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Unit </a:t>
                      </a:r>
                    </a:p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Price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966070"/>
                  </a:ext>
                </a:extLst>
              </a:tr>
              <a:tr h="40715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13-01-2024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Allen Santos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/>
                        <a:t>Credit Card</a:t>
                      </a:r>
                      <a:endParaRPr lang="en-IN" sz="900" b="1" dirty="0"/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284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Pro02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Britannia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dirty="0"/>
                        <a:t>₹18.00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₹22.00</a:t>
                      </a:r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2246770"/>
                  </a:ext>
                </a:extLst>
              </a:tr>
              <a:tr h="40715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09-05-2024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Brenda Shaw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Debit Card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Pro05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Oreo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₹14.00</a:t>
                      </a: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₹28.00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08154546"/>
                  </a:ext>
                </a:extLst>
              </a:tr>
              <a:tr h="40715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20-05-2024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Robert Hernandez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Cash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475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Pro04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/>
                        <a:t>Malkist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₹10.00</a:t>
                      </a: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₹14.00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80729661"/>
                  </a:ext>
                </a:extLst>
              </a:tr>
              <a:tr h="40715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28-04-2024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Alexander Smith</a:t>
                      </a:r>
                      <a:endParaRPr lang="en-IN" sz="9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Debit Card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299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Pro02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Britannia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₹18.00</a:t>
                      </a: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₹22.00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83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95309518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1E9E9C24-9704-4D4D-892E-2689477AA719}"/>
              </a:ext>
            </a:extLst>
          </p:cNvPr>
          <p:cNvSpPr/>
          <p:nvPr/>
        </p:nvSpPr>
        <p:spPr>
          <a:xfrm rot="10800000" flipV="1">
            <a:off x="6167335" y="3982862"/>
            <a:ext cx="5969839" cy="427444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Lookup-Enriched Transaction Data</a:t>
            </a:r>
            <a:endParaRPr lang="en-IN" b="1" dirty="0"/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E9706899-65F1-4C3C-B230-693919B7A5DF}"/>
              </a:ext>
            </a:extLst>
          </p:cNvPr>
          <p:cNvSpPr/>
          <p:nvPr/>
        </p:nvSpPr>
        <p:spPr>
          <a:xfrm flipV="1">
            <a:off x="6695753" y="3320361"/>
            <a:ext cx="645149" cy="339139"/>
          </a:xfrm>
          <a:prstGeom prst="bent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Arrow: Bent 28">
            <a:extLst>
              <a:ext uri="{FF2B5EF4-FFF2-40B4-BE49-F238E27FC236}">
                <a16:creationId xmlns:a16="http://schemas.microsoft.com/office/drawing/2014/main" id="{3D396E50-4E5F-4885-8947-8C0AE5F43E58}"/>
              </a:ext>
            </a:extLst>
          </p:cNvPr>
          <p:cNvSpPr/>
          <p:nvPr/>
        </p:nvSpPr>
        <p:spPr>
          <a:xfrm rot="10800000">
            <a:off x="10937257" y="3321536"/>
            <a:ext cx="645151" cy="359664"/>
          </a:xfrm>
          <a:prstGeom prst="bent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7B5CCA3-D655-4BB3-A982-FB855EDFE31D}"/>
              </a:ext>
            </a:extLst>
          </p:cNvPr>
          <p:cNvSpPr/>
          <p:nvPr/>
        </p:nvSpPr>
        <p:spPr>
          <a:xfrm rot="10800000" flipV="1">
            <a:off x="7340903" y="3405559"/>
            <a:ext cx="3595945" cy="339139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VLOOKUP / XLOOKUP</a:t>
            </a:r>
            <a:endParaRPr lang="en-IN" b="1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956A6297-EFD3-4321-AA1D-AB788955BCD2}"/>
              </a:ext>
            </a:extLst>
          </p:cNvPr>
          <p:cNvSpPr/>
          <p:nvPr/>
        </p:nvSpPr>
        <p:spPr>
          <a:xfrm>
            <a:off x="9064278" y="3753755"/>
            <a:ext cx="186437" cy="248522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82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EA1A5-8FAC-45F7-8F55-A586A0359F41}"/>
              </a:ext>
            </a:extLst>
          </p:cNvPr>
          <p:cNvSpPr txBox="1"/>
          <p:nvPr/>
        </p:nvSpPr>
        <p:spPr>
          <a:xfrm rot="10800000" flipH="1" flipV="1">
            <a:off x="271961" y="99156"/>
            <a:ext cx="10415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TASK 3</a:t>
            </a:r>
            <a:r>
              <a:rPr lang="en-IN" sz="4800" dirty="0">
                <a:latin typeface="Adobe Caslon Pro Bold" panose="0205070206050A020403" pitchFamily="18" charset="0"/>
              </a:rPr>
              <a:t> </a:t>
            </a:r>
            <a:r>
              <a:rPr lang="en-IN" sz="3200" dirty="0">
                <a:latin typeface="Adobe Caslon Pro Bold" panose="0205070206050A020403" pitchFamily="18" charset="0"/>
              </a:rPr>
              <a:t>– Create New Calculation Columns</a:t>
            </a:r>
            <a:endParaRPr lang="en-IN" dirty="0">
              <a:latin typeface="Adobe Caslon Pro Bold" panose="0205070206050A020403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141FD0-23B5-4F10-98F4-64C2FE49E9AB}"/>
              </a:ext>
            </a:extLst>
          </p:cNvPr>
          <p:cNvSpPr/>
          <p:nvPr/>
        </p:nvSpPr>
        <p:spPr>
          <a:xfrm>
            <a:off x="162560" y="118485"/>
            <a:ext cx="109401" cy="70892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E3800F-23A6-4835-B1BD-42D8BE2FE7AE}"/>
              </a:ext>
            </a:extLst>
          </p:cNvPr>
          <p:cNvSpPr/>
          <p:nvPr/>
        </p:nvSpPr>
        <p:spPr>
          <a:xfrm>
            <a:off x="366190" y="737983"/>
            <a:ext cx="1099225" cy="8942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AD14B-AC16-45B7-8061-B58EE629E44A}"/>
              </a:ext>
            </a:extLst>
          </p:cNvPr>
          <p:cNvSpPr txBox="1"/>
          <p:nvPr/>
        </p:nvSpPr>
        <p:spPr>
          <a:xfrm flipH="1">
            <a:off x="271961" y="888189"/>
            <a:ext cx="7646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dobe Caslon Pro Bold" panose="0205070206050A020403" pitchFamily="18" charset="0"/>
              </a:rPr>
              <a:t>Using Excel formulas, we create new columns to calculate key business metrics from the existing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74BC89-B504-447F-9A2D-7DCFCE0C1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8" y="4714240"/>
            <a:ext cx="12157511" cy="2134031"/>
          </a:xfrm>
          <a:prstGeom prst="rect">
            <a:avLst/>
          </a:prstGeom>
        </p:spPr>
      </p:pic>
      <p:pic>
        <p:nvPicPr>
          <p:cNvPr id="13" name="Graphic 12" descr="Clipboard">
            <a:extLst>
              <a:ext uri="{FF2B5EF4-FFF2-40B4-BE49-F238E27FC236}">
                <a16:creationId xmlns:a16="http://schemas.microsoft.com/office/drawing/2014/main" id="{EC5B6192-0194-42C5-AD50-40102DFF3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95279" y="1211354"/>
            <a:ext cx="3709320" cy="3667760"/>
          </a:xfrm>
          <a:prstGeom prst="rect">
            <a:avLst/>
          </a:prstGeom>
        </p:spPr>
      </p:pic>
      <p:pic>
        <p:nvPicPr>
          <p:cNvPr id="17" name="Graphic 16" descr="Clipboard">
            <a:extLst>
              <a:ext uri="{FF2B5EF4-FFF2-40B4-BE49-F238E27FC236}">
                <a16:creationId xmlns:a16="http://schemas.microsoft.com/office/drawing/2014/main" id="{16F5C95F-4E50-4EE4-80B9-E82FF29CE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9409" y="1211354"/>
            <a:ext cx="3709320" cy="3667760"/>
          </a:xfrm>
          <a:prstGeom prst="rect">
            <a:avLst/>
          </a:prstGeom>
        </p:spPr>
      </p:pic>
      <p:pic>
        <p:nvPicPr>
          <p:cNvPr id="18" name="Graphic 17" descr="Clipboard">
            <a:extLst>
              <a:ext uri="{FF2B5EF4-FFF2-40B4-BE49-F238E27FC236}">
                <a16:creationId xmlns:a16="http://schemas.microsoft.com/office/drawing/2014/main" id="{AA086172-B9C5-4D92-B2C9-03F1706C0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3937" y="1223490"/>
            <a:ext cx="3709320" cy="3667760"/>
          </a:xfrm>
          <a:prstGeom prst="rect">
            <a:avLst/>
          </a:prstGeom>
        </p:spPr>
      </p:pic>
      <p:pic>
        <p:nvPicPr>
          <p:cNvPr id="19" name="Graphic 18" descr="Clipboard">
            <a:extLst>
              <a:ext uri="{FF2B5EF4-FFF2-40B4-BE49-F238E27FC236}">
                <a16:creationId xmlns:a16="http://schemas.microsoft.com/office/drawing/2014/main" id="{3D608A4E-AA09-4221-9633-B9F566DFA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6449" y="1223490"/>
            <a:ext cx="3709320" cy="3667760"/>
          </a:xfrm>
          <a:prstGeom prst="rect">
            <a:avLst/>
          </a:prstGeom>
        </p:spPr>
      </p:pic>
      <p:pic>
        <p:nvPicPr>
          <p:cNvPr id="20" name="Graphic 19" descr="Clipboard">
            <a:extLst>
              <a:ext uri="{FF2B5EF4-FFF2-40B4-BE49-F238E27FC236}">
                <a16:creationId xmlns:a16="http://schemas.microsoft.com/office/drawing/2014/main" id="{F17B530B-075A-4261-846A-F55E47439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5807" y="1211354"/>
            <a:ext cx="3709320" cy="366776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7BA4722-8FE4-463B-87F9-017661B9402B}"/>
              </a:ext>
            </a:extLst>
          </p:cNvPr>
          <p:cNvSpPr/>
          <p:nvPr/>
        </p:nvSpPr>
        <p:spPr>
          <a:xfrm>
            <a:off x="884665" y="2275826"/>
            <a:ext cx="749431" cy="646331"/>
          </a:xfrm>
          <a:prstGeom prst="ellipse">
            <a:avLst/>
          </a:prstGeom>
          <a:solidFill>
            <a:srgbClr val="0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>
                <a:latin typeface="Adobe Caslon Pro Bold" panose="0205070206050A020403" pitchFamily="18" charset="0"/>
              </a:rPr>
              <a:t>💰</a:t>
            </a:r>
            <a:endParaRPr lang="en-IN" sz="3200" dirty="0">
              <a:latin typeface="Adobe Caslon Pro Bold" panose="0205070206050A020403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22BA31-3533-4D36-91B6-D8A8E444EE18}"/>
              </a:ext>
            </a:extLst>
          </p:cNvPr>
          <p:cNvSpPr/>
          <p:nvPr/>
        </p:nvSpPr>
        <p:spPr>
          <a:xfrm>
            <a:off x="3285476" y="2275825"/>
            <a:ext cx="749431" cy="646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dobe Caslon Pro Bold" panose="0205070206050A020403" pitchFamily="18" charset="0"/>
              </a:rPr>
              <a:t>📜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3BFE3A-5C90-4E51-AA2A-FF9CF0BDEF55}"/>
              </a:ext>
            </a:extLst>
          </p:cNvPr>
          <p:cNvSpPr/>
          <p:nvPr/>
        </p:nvSpPr>
        <p:spPr>
          <a:xfrm>
            <a:off x="5734042" y="2279284"/>
            <a:ext cx="749431" cy="646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latin typeface="Adobe Caslon Pro Bold" panose="0205070206050A020403" pitchFamily="18" charset="0"/>
              </a:rPr>
              <a:t>📈</a:t>
            </a:r>
            <a:endParaRPr lang="en-IN" sz="3200" b="1" dirty="0">
              <a:latin typeface="Adobe Caslon Pro Bold" panose="0205070206050A020403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05D035C-E257-4B2A-8B6B-40ECF85301FA}"/>
              </a:ext>
            </a:extLst>
          </p:cNvPr>
          <p:cNvSpPr/>
          <p:nvPr/>
        </p:nvSpPr>
        <p:spPr>
          <a:xfrm>
            <a:off x="8140158" y="2275824"/>
            <a:ext cx="749431" cy="646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>
                <a:latin typeface="Adobe Caslon Pro Bold" panose="0205070206050A020403" pitchFamily="18" charset="0"/>
              </a:rPr>
              <a:t>％</a:t>
            </a:r>
            <a:endParaRPr lang="en-IN" sz="3200" dirty="0">
              <a:latin typeface="Adobe Caslon Pro Bold" panose="0205070206050A020403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28DE58-B517-4792-8929-4257C6E3DDC6}"/>
              </a:ext>
            </a:extLst>
          </p:cNvPr>
          <p:cNvSpPr/>
          <p:nvPr/>
        </p:nvSpPr>
        <p:spPr>
          <a:xfrm>
            <a:off x="10571987" y="2275823"/>
            <a:ext cx="749431" cy="646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>
                <a:latin typeface="Adobe Caslon Pro Bold" panose="0205070206050A020403" pitchFamily="18" charset="0"/>
              </a:rPr>
              <a:t>📆</a:t>
            </a:r>
            <a:endParaRPr lang="en-IN" sz="3200" dirty="0">
              <a:latin typeface="Adobe Caslon Pro Bold" panose="0205070206050A0204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B7F75D-85B2-450C-B291-7750D29395E7}"/>
              </a:ext>
            </a:extLst>
          </p:cNvPr>
          <p:cNvSpPr txBox="1"/>
          <p:nvPr/>
        </p:nvSpPr>
        <p:spPr>
          <a:xfrm flipH="1">
            <a:off x="271961" y="3033913"/>
            <a:ext cx="196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latin typeface="Adobe Caslon Pro Bold" panose="0205070206050A020403" pitchFamily="18" charset="0"/>
              </a:rPr>
              <a:t>Total Revenue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82FB72-D4CD-4C6A-A49D-19844077F36F}"/>
              </a:ext>
            </a:extLst>
          </p:cNvPr>
          <p:cNvSpPr txBox="1"/>
          <p:nvPr/>
        </p:nvSpPr>
        <p:spPr>
          <a:xfrm flipH="1">
            <a:off x="2708250" y="3028890"/>
            <a:ext cx="196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000" dirty="0">
              <a:latin typeface="Adobe Caslon Pro Bold" panose="0205070206050A0204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09D784-7695-45D0-A407-390A500FFA66}"/>
              </a:ext>
            </a:extLst>
          </p:cNvPr>
          <p:cNvSpPr txBox="1"/>
          <p:nvPr/>
        </p:nvSpPr>
        <p:spPr>
          <a:xfrm flipH="1">
            <a:off x="2678571" y="3045234"/>
            <a:ext cx="196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Total Cost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7A7336-061A-4867-997B-156C8080F9CF}"/>
              </a:ext>
            </a:extLst>
          </p:cNvPr>
          <p:cNvSpPr txBox="1"/>
          <p:nvPr/>
        </p:nvSpPr>
        <p:spPr>
          <a:xfrm flipH="1">
            <a:off x="5085181" y="3056555"/>
            <a:ext cx="196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Profit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E04ED0-999E-424C-AB8E-4190706EF629}"/>
              </a:ext>
            </a:extLst>
          </p:cNvPr>
          <p:cNvSpPr txBox="1"/>
          <p:nvPr/>
        </p:nvSpPr>
        <p:spPr>
          <a:xfrm flipH="1">
            <a:off x="7491791" y="3067876"/>
            <a:ext cx="196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Profit Margin 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35E0BA-9F13-4C2F-B711-5148AF64FA44}"/>
              </a:ext>
            </a:extLst>
          </p:cNvPr>
          <p:cNvSpPr txBox="1"/>
          <p:nvPr/>
        </p:nvSpPr>
        <p:spPr>
          <a:xfrm flipH="1">
            <a:off x="9898401" y="3079197"/>
            <a:ext cx="196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latin typeface="Adobe Caslon Pro Bold" panose="0205070206050A020403" pitchFamily="18" charset="0"/>
              </a:rPr>
              <a:t>Age of Buyer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4C107-8627-4613-9647-43B28FE85199}"/>
              </a:ext>
            </a:extLst>
          </p:cNvPr>
          <p:cNvSpPr txBox="1"/>
          <p:nvPr/>
        </p:nvSpPr>
        <p:spPr>
          <a:xfrm flipH="1">
            <a:off x="271961" y="3432655"/>
            <a:ext cx="191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dobe Caslon Pro" panose="0205050205050A020403" pitchFamily="18" charset="0"/>
              </a:rPr>
              <a:t>Quantity Purchased x Unit Price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421316-BB9D-4C6A-820E-15C672F19E5C}"/>
              </a:ext>
            </a:extLst>
          </p:cNvPr>
          <p:cNvSpPr txBox="1"/>
          <p:nvPr/>
        </p:nvSpPr>
        <p:spPr>
          <a:xfrm flipH="1">
            <a:off x="2745967" y="3432655"/>
            <a:ext cx="191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dobe Caslon Pro" panose="0205050205050A020403" pitchFamily="18" charset="0"/>
              </a:rPr>
              <a:t>Quantity Purchased x Cost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FD2A92-C599-4152-AC2B-D92086470548}"/>
              </a:ext>
            </a:extLst>
          </p:cNvPr>
          <p:cNvSpPr txBox="1"/>
          <p:nvPr/>
        </p:nvSpPr>
        <p:spPr>
          <a:xfrm flipH="1">
            <a:off x="5085181" y="3433714"/>
            <a:ext cx="191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dobe Caslon Pro" panose="0205050205050A020403" pitchFamily="18" charset="0"/>
              </a:rPr>
              <a:t>Revenue – Cost Amount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6526D1-3693-449D-A118-28CBFBC9F928}"/>
              </a:ext>
            </a:extLst>
          </p:cNvPr>
          <p:cNvSpPr txBox="1"/>
          <p:nvPr/>
        </p:nvSpPr>
        <p:spPr>
          <a:xfrm flipH="1">
            <a:off x="7555577" y="3480121"/>
            <a:ext cx="191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dobe Caslon Pro" panose="0205050205050A020403" pitchFamily="18" charset="0"/>
              </a:rPr>
              <a:t>(Profit / Revenue) x 100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FBA975-D9D0-4B8E-9190-CF301921C7D7}"/>
              </a:ext>
            </a:extLst>
          </p:cNvPr>
          <p:cNvSpPr txBox="1"/>
          <p:nvPr/>
        </p:nvSpPr>
        <p:spPr>
          <a:xfrm flipH="1">
            <a:off x="9981171" y="3479306"/>
            <a:ext cx="191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dobe Caslon Pro" panose="0205050205050A020403" pitchFamily="18" charset="0"/>
              </a:rPr>
              <a:t>Current Year – Buyer DOB year</a:t>
            </a:r>
          </a:p>
        </p:txBody>
      </p:sp>
    </p:spTree>
    <p:extLst>
      <p:ext uri="{BB962C8B-B14F-4D97-AF65-F5344CB8AC3E}">
        <p14:creationId xmlns:p14="http://schemas.microsoft.com/office/powerpoint/2010/main" val="209404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>
          <a:gsLst>
            <a:gs pos="0">
              <a:schemeClr val="tx2"/>
            </a:gs>
            <a:gs pos="23000">
              <a:schemeClr val="tx2">
                <a:lumMod val="90000"/>
              </a:schemeClr>
            </a:gs>
            <a:gs pos="69000">
              <a:schemeClr val="tx2">
                <a:lumMod val="50000"/>
              </a:schemeClr>
            </a:gs>
            <a:gs pos="97000">
              <a:schemeClr val="bg1">
                <a:lumMod val="95000"/>
                <a:lumOff val="5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8B46780-F708-4F38-A6F5-F1AB736265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644610"/>
              </p:ext>
            </p:extLst>
          </p:nvPr>
        </p:nvGraphicFramePr>
        <p:xfrm>
          <a:off x="0" y="865580"/>
          <a:ext cx="5845215" cy="3509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DD28106-1FC1-451E-97F2-78DF6E9B30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1616292"/>
              </p:ext>
            </p:extLst>
          </p:nvPr>
        </p:nvGraphicFramePr>
        <p:xfrm>
          <a:off x="6095999" y="259004"/>
          <a:ext cx="6011119" cy="3509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F354F21-EB8C-4B18-AEAD-BF77E3DC7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3124226"/>
              </p:ext>
            </p:extLst>
          </p:nvPr>
        </p:nvGraphicFramePr>
        <p:xfrm>
          <a:off x="-138333" y="4166886"/>
          <a:ext cx="6095999" cy="2691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7" name="Chart 46">
                <a:extLst>
                  <a:ext uri="{FF2B5EF4-FFF2-40B4-BE49-F238E27FC236}">
                    <a16:creationId xmlns:a16="http://schemas.microsoft.com/office/drawing/2014/main" id="{1274B3D8-E775-4417-8643-F902BC42D7A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67944486"/>
                  </p:ext>
                </p:extLst>
              </p:nvPr>
            </p:nvGraphicFramePr>
            <p:xfrm>
              <a:off x="5058383" y="3599233"/>
              <a:ext cx="7148163" cy="258495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47" name="Chart 46">
                <a:extLst>
                  <a:ext uri="{FF2B5EF4-FFF2-40B4-BE49-F238E27FC236}">
                    <a16:creationId xmlns:a16="http://schemas.microsoft.com/office/drawing/2014/main" id="{1274B3D8-E775-4417-8643-F902BC42D7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58383" y="3599233"/>
                <a:ext cx="7148163" cy="2584958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E9E9479A-5EBF-4388-BD52-672AC11358BA}"/>
              </a:ext>
            </a:extLst>
          </p:cNvPr>
          <p:cNvSpPr txBox="1"/>
          <p:nvPr/>
        </p:nvSpPr>
        <p:spPr>
          <a:xfrm flipH="1">
            <a:off x="250788" y="163441"/>
            <a:ext cx="7894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TASK 4 – Product- Level Insights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F0CE1E4-F181-4CEC-9C50-FD1F0E80F175}"/>
              </a:ext>
            </a:extLst>
          </p:cNvPr>
          <p:cNvSpPr/>
          <p:nvPr/>
        </p:nvSpPr>
        <p:spPr>
          <a:xfrm>
            <a:off x="132081" y="18153"/>
            <a:ext cx="139366" cy="72624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8F6FA35-51A1-4909-9DDC-95EF844CC0D0}"/>
              </a:ext>
            </a:extLst>
          </p:cNvPr>
          <p:cNvSpPr/>
          <p:nvPr/>
        </p:nvSpPr>
        <p:spPr>
          <a:xfrm rot="16200000">
            <a:off x="709929" y="242639"/>
            <a:ext cx="121647" cy="88187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EE5BBF7-2741-4725-B2C6-EF5CD23E4EC0}"/>
              </a:ext>
            </a:extLst>
          </p:cNvPr>
          <p:cNvSpPr/>
          <p:nvPr/>
        </p:nvSpPr>
        <p:spPr>
          <a:xfrm>
            <a:off x="5418306" y="6184190"/>
            <a:ext cx="6566958" cy="5676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dobe Caslon Pro Bold" panose="0205070206050A020403" pitchFamily="18" charset="0"/>
              </a:rPr>
              <a:t>Key Insight: </a:t>
            </a:r>
            <a:r>
              <a:rPr lang="en-IN" sz="1600" dirty="0" err="1">
                <a:latin typeface="Adobe Caslon Pro Bold" panose="0205070206050A020403" pitchFamily="18" charset="0"/>
              </a:rPr>
              <a:t>Unibic</a:t>
            </a:r>
            <a:r>
              <a:rPr lang="en-IN" sz="1600" dirty="0">
                <a:latin typeface="Adobe Caslon Pro Bold" panose="0205070206050A020403" pitchFamily="18" charset="0"/>
              </a:rPr>
              <a:t> leads revenue &amp; profit; Little Hearts leads quantity sold</a:t>
            </a:r>
            <a:r>
              <a:rPr lang="en-IN" sz="1400" dirty="0">
                <a:latin typeface="Adobe Caslon Pro Bold" panose="0205070206050A0204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894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F43B04-44A6-4896-8C6B-340A04A920F3}"/>
              </a:ext>
            </a:extLst>
          </p:cNvPr>
          <p:cNvSpPr txBox="1"/>
          <p:nvPr/>
        </p:nvSpPr>
        <p:spPr>
          <a:xfrm>
            <a:off x="311084" y="169682"/>
            <a:ext cx="7993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TASK 5 – Customer &amp; Demographic KPIs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E9A037-E1ED-43AD-BB9F-8032D35C1484}"/>
              </a:ext>
            </a:extLst>
          </p:cNvPr>
          <p:cNvSpPr txBox="1"/>
          <p:nvPr/>
        </p:nvSpPr>
        <p:spPr>
          <a:xfrm>
            <a:off x="348491" y="596567"/>
            <a:ext cx="8616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dobe Caslon Pro" panose="0205050205050A020403" pitchFamily="18" charset="0"/>
              </a:rPr>
              <a:t>Understand your customers | Target the right segments | Drive more revenue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EDF696-DA2A-4B2E-BA43-DFD48B57FC62}"/>
              </a:ext>
            </a:extLst>
          </p:cNvPr>
          <p:cNvSpPr/>
          <p:nvPr/>
        </p:nvSpPr>
        <p:spPr>
          <a:xfrm>
            <a:off x="197963" y="106118"/>
            <a:ext cx="131975" cy="79153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F1A5C-1C13-489F-8781-3BD74BA164A1}"/>
              </a:ext>
            </a:extLst>
          </p:cNvPr>
          <p:cNvSpPr/>
          <p:nvPr/>
        </p:nvSpPr>
        <p:spPr>
          <a:xfrm>
            <a:off x="3844" y="1052512"/>
            <a:ext cx="492268" cy="382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01F3D-4E91-445E-896F-801F75FE4608}"/>
              </a:ext>
            </a:extLst>
          </p:cNvPr>
          <p:cNvSpPr txBox="1"/>
          <p:nvPr/>
        </p:nvSpPr>
        <p:spPr>
          <a:xfrm flipH="1">
            <a:off x="342178" y="1109584"/>
            <a:ext cx="242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1. Sales by Gender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8550BA-7DEB-428E-A1F3-506BBB94005C}"/>
              </a:ext>
            </a:extLst>
          </p:cNvPr>
          <p:cNvSpPr txBox="1"/>
          <p:nvPr/>
        </p:nvSpPr>
        <p:spPr>
          <a:xfrm flipH="1">
            <a:off x="55671" y="1436390"/>
            <a:ext cx="6040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dobe Caslon Pro" panose="0205050205050A020403" pitchFamily="18" charset="0"/>
              </a:rPr>
              <a:t>Male buyers drive the vast majority of revenue, with female and other categories representing a significantly smaller share.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302F4E1C-9654-48E8-AF2A-6AAF17BFF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0383067"/>
              </p:ext>
            </p:extLst>
          </p:nvPr>
        </p:nvGraphicFramePr>
        <p:xfrm>
          <a:off x="17870" y="1758788"/>
          <a:ext cx="6006586" cy="2589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F0F80622-D462-4253-BFD8-620EBB452471}"/>
              </a:ext>
            </a:extLst>
          </p:cNvPr>
          <p:cNvSpPr/>
          <p:nvPr/>
        </p:nvSpPr>
        <p:spPr>
          <a:xfrm>
            <a:off x="5966091" y="1094142"/>
            <a:ext cx="6292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EACD56-B709-4149-8EBC-8E519E835AC1}"/>
              </a:ext>
            </a:extLst>
          </p:cNvPr>
          <p:cNvSpPr txBox="1"/>
          <p:nvPr/>
        </p:nvSpPr>
        <p:spPr>
          <a:xfrm flipH="1">
            <a:off x="6255868" y="1139080"/>
            <a:ext cx="3036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1. Sales by Age Group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4F45CB-5D33-4528-A578-923B0980C547}"/>
              </a:ext>
            </a:extLst>
          </p:cNvPr>
          <p:cNvSpPr txBox="1"/>
          <p:nvPr/>
        </p:nvSpPr>
        <p:spPr>
          <a:xfrm flipH="1">
            <a:off x="6024458" y="1453954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dobe Caslon Pro" panose="0205050205050A020403" pitchFamily="18" charset="0"/>
              </a:rPr>
              <a:t>The 69+ group contributes the highest sales, followed closely by 29-38 demographic.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DCC8D58B-BC1B-4820-9E12-C32D5CB89D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360417"/>
              </p:ext>
            </p:extLst>
          </p:nvPr>
        </p:nvGraphicFramePr>
        <p:xfrm>
          <a:off x="6024457" y="2082721"/>
          <a:ext cx="6057899" cy="2860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5B42D007-C678-43DB-9BB0-0A454F10E91C}"/>
              </a:ext>
            </a:extLst>
          </p:cNvPr>
          <p:cNvSpPr/>
          <p:nvPr/>
        </p:nvSpPr>
        <p:spPr>
          <a:xfrm>
            <a:off x="2817" y="4074469"/>
            <a:ext cx="838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8F0D19-782E-46A0-A3FD-FB9973141C05}"/>
              </a:ext>
            </a:extLst>
          </p:cNvPr>
          <p:cNvSpPr txBox="1"/>
          <p:nvPr/>
        </p:nvSpPr>
        <p:spPr>
          <a:xfrm flipH="1">
            <a:off x="342178" y="4100309"/>
            <a:ext cx="2423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3. Top Buyer Profiles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358824-ADB3-4FFA-86A6-C935620A44F5}"/>
              </a:ext>
            </a:extLst>
          </p:cNvPr>
          <p:cNvSpPr txBox="1"/>
          <p:nvPr/>
        </p:nvSpPr>
        <p:spPr>
          <a:xfrm flipH="1">
            <a:off x="38095" y="4459794"/>
            <a:ext cx="5986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dobe Caslon Pro" panose="0205050205050A020403" pitchFamily="18" charset="0"/>
              </a:rPr>
              <a:t>Customers with higher purchase quantities are more likely to be high-value buyers. The average quantity per buyer segment shows a clear difference across segments.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A20E546-7F42-45C6-B4E2-553863CCE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926729"/>
              </p:ext>
            </p:extLst>
          </p:nvPr>
        </p:nvGraphicFramePr>
        <p:xfrm>
          <a:off x="53640" y="5394960"/>
          <a:ext cx="600658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384">
                  <a:extLst>
                    <a:ext uri="{9D8B030D-6E8A-4147-A177-3AD203B41FA5}">
                      <a16:colId xmlns:a16="http://schemas.microsoft.com/office/drawing/2014/main" val="2764300325"/>
                    </a:ext>
                  </a:extLst>
                </a:gridCol>
                <a:gridCol w="3827202">
                  <a:extLst>
                    <a:ext uri="{9D8B030D-6E8A-4147-A177-3AD203B41FA5}">
                      <a16:colId xmlns:a16="http://schemas.microsoft.com/office/drawing/2014/main" val="4264671311"/>
                    </a:ext>
                  </a:extLst>
                </a:gridCol>
              </a:tblGrid>
              <a:tr h="34573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Buyer Segment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Avg. Purchase Quantity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89802"/>
                  </a:ext>
                </a:extLst>
              </a:tr>
              <a:tr h="34573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Adobe Caslon Pro" panose="0205050205050A020403" pitchFamily="18" charset="0"/>
                        </a:rPr>
                        <a:t>High Value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dobe Caslon Pro" panose="0205050205050A020403" pitchFamily="18" charset="0"/>
                        </a:rPr>
                        <a:t>925,137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536291"/>
                  </a:ext>
                </a:extLst>
              </a:tr>
              <a:tr h="34573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Adobe Caslon Pro" panose="0205050205050A020403" pitchFamily="18" charset="0"/>
                        </a:rPr>
                        <a:t>Mid Value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dobe Caslon Pro" panose="0205050205050A020403" pitchFamily="18" charset="0"/>
                        </a:rPr>
                        <a:t>1,698,727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60174"/>
                  </a:ext>
                </a:extLst>
              </a:tr>
              <a:tr h="34573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Adobe Caslon Pro" panose="0205050205050A020403" pitchFamily="18" charset="0"/>
                        </a:rPr>
                        <a:t>Low Value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dobe Caslon Pro" panose="0205050205050A020403" pitchFamily="18" charset="0"/>
                        </a:rPr>
                        <a:t>426,445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431"/>
                  </a:ext>
                </a:extLst>
              </a:tr>
            </a:tbl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C8453715-7518-445C-85CB-5FE09EC7A189}"/>
              </a:ext>
            </a:extLst>
          </p:cNvPr>
          <p:cNvSpPr/>
          <p:nvPr/>
        </p:nvSpPr>
        <p:spPr>
          <a:xfrm>
            <a:off x="6144638" y="5314877"/>
            <a:ext cx="5986358" cy="153113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dobe Caslon Pro Bold" panose="0205070206050A020403" pitchFamily="18" charset="0"/>
              </a:rPr>
              <a:t>Top Buyer:</a:t>
            </a:r>
            <a:r>
              <a:rPr lang="en-IN" dirty="0"/>
              <a:t> </a:t>
            </a:r>
            <a:r>
              <a:rPr lang="en-IN" dirty="0">
                <a:latin typeface="Adobe Caslon Pro" panose="0205050205050A020403" pitchFamily="18" charset="0"/>
              </a:rPr>
              <a:t>Robert Hernandez </a:t>
            </a:r>
          </a:p>
          <a:p>
            <a:pPr algn="ctr"/>
            <a:r>
              <a:rPr lang="en-IN" dirty="0">
                <a:latin typeface="Adobe Caslon Pro Bold" panose="0205070206050A020403" pitchFamily="18" charset="0"/>
              </a:rPr>
              <a:t>Gender: </a:t>
            </a:r>
            <a:r>
              <a:rPr lang="en-IN" dirty="0">
                <a:latin typeface="Adobe Caslon Pro" panose="0205050205050A020403" pitchFamily="18" charset="0"/>
              </a:rPr>
              <a:t>Male</a:t>
            </a:r>
            <a:r>
              <a:rPr lang="en-IN" dirty="0">
                <a:latin typeface="Adobe Caslon Pro Bold" panose="0205070206050A020403" pitchFamily="18" charset="0"/>
              </a:rPr>
              <a:t> </a:t>
            </a:r>
            <a:r>
              <a:rPr lang="en-IN" dirty="0">
                <a:latin typeface="Adobe Caslon Pro" panose="0205050205050A020403" pitchFamily="18" charset="0"/>
              </a:rPr>
              <a:t> </a:t>
            </a:r>
          </a:p>
          <a:p>
            <a:pPr algn="ctr"/>
            <a:r>
              <a:rPr lang="en-IN" dirty="0">
                <a:latin typeface="Adobe Caslon Pro Bold" panose="0205070206050A020403" pitchFamily="18" charset="0"/>
              </a:rPr>
              <a:t>Age Group: </a:t>
            </a:r>
            <a:r>
              <a:rPr lang="en-IN" dirty="0">
                <a:latin typeface="Adobe Caslon Pro" panose="0205050205050A020403" pitchFamily="18" charset="0"/>
              </a:rPr>
              <a:t>69+  </a:t>
            </a:r>
          </a:p>
          <a:p>
            <a:pPr algn="ctr"/>
            <a:r>
              <a:rPr lang="en-IN" dirty="0">
                <a:latin typeface="Adobe Caslon Pro Bold" panose="0205070206050A020403" pitchFamily="18" charset="0"/>
              </a:rPr>
              <a:t>Quantity Purchased: </a:t>
            </a:r>
            <a:r>
              <a:rPr lang="en-IN" dirty="0">
                <a:latin typeface="Adobe Caslon Pro" panose="0205050205050A020403" pitchFamily="18" charset="0"/>
              </a:rPr>
              <a:t>7,141 </a:t>
            </a:r>
          </a:p>
          <a:p>
            <a:pPr algn="ctr"/>
            <a:r>
              <a:rPr lang="en-IN" dirty="0">
                <a:latin typeface="Adobe Caslon Pro Bold" panose="0205070206050A020403" pitchFamily="18" charset="0"/>
              </a:rPr>
              <a:t>Total Revenue: </a:t>
            </a:r>
            <a:r>
              <a:rPr lang="en-IN" dirty="0">
                <a:latin typeface="Adobe Caslon Pro" panose="0205050205050A020403" pitchFamily="18" charset="0"/>
              </a:rPr>
              <a:t>132,558</a:t>
            </a:r>
            <a:r>
              <a:rPr lang="en-IN" dirty="0"/>
              <a:t> </a:t>
            </a:r>
            <a:endParaRPr lang="en-IN" dirty="0">
              <a:latin typeface="Adobe Caslon Pro" panose="0205050205050A020403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F59C63-542D-46DE-BB5A-0F6A6BB845C7}"/>
              </a:ext>
            </a:extLst>
          </p:cNvPr>
          <p:cNvSpPr/>
          <p:nvPr/>
        </p:nvSpPr>
        <p:spPr>
          <a:xfrm>
            <a:off x="6144638" y="4943369"/>
            <a:ext cx="5986358" cy="3715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🏆</a:t>
            </a:r>
            <a:r>
              <a:rPr lang="en-IN" dirty="0">
                <a:solidFill>
                  <a:schemeClr val="tx1"/>
                </a:solidFill>
                <a:latin typeface="Adobe Caslon Pro Bold" panose="0205070206050A020403" pitchFamily="18" charset="0"/>
              </a:rPr>
              <a:t>4. Identified High Value Buyer</a:t>
            </a:r>
          </a:p>
        </p:txBody>
      </p:sp>
    </p:spTree>
    <p:extLst>
      <p:ext uri="{BB962C8B-B14F-4D97-AF65-F5344CB8AC3E}">
        <p14:creationId xmlns:p14="http://schemas.microsoft.com/office/powerpoint/2010/main" val="2473443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32FB5-54D2-4D9E-8619-6285EE98F0B2}"/>
              </a:ext>
            </a:extLst>
          </p:cNvPr>
          <p:cNvSpPr txBox="1"/>
          <p:nvPr/>
        </p:nvSpPr>
        <p:spPr>
          <a:xfrm>
            <a:off x="350196" y="252919"/>
            <a:ext cx="104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dobe Caslon Pro Bold" panose="0205070206050A020403" pitchFamily="18" charset="0"/>
              </a:rPr>
              <a:t>TASK 6 – Sales Representative Performance &amp; KPIs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8A800-3FEF-46FB-8383-E369BC827565}"/>
              </a:ext>
            </a:extLst>
          </p:cNvPr>
          <p:cNvSpPr txBox="1"/>
          <p:nvPr/>
        </p:nvSpPr>
        <p:spPr>
          <a:xfrm>
            <a:off x="398836" y="798782"/>
            <a:ext cx="10077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dobe Caslon Pro" panose="0205050205050A020403" pitchFamily="18" charset="0"/>
              </a:rPr>
              <a:t>Performance Analysis: Revenue Leaders, Profit Margins, and Contributors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DB2C5D-3270-40E9-9878-3A9E80FF4407}"/>
              </a:ext>
            </a:extLst>
          </p:cNvPr>
          <p:cNvSpPr/>
          <p:nvPr/>
        </p:nvSpPr>
        <p:spPr>
          <a:xfrm>
            <a:off x="184825" y="252919"/>
            <a:ext cx="165371" cy="8463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E652A2-3AAC-4D96-B0DF-56B2AE9ADB27}"/>
              </a:ext>
            </a:extLst>
          </p:cNvPr>
          <p:cNvSpPr/>
          <p:nvPr/>
        </p:nvSpPr>
        <p:spPr>
          <a:xfrm>
            <a:off x="369652" y="1198892"/>
            <a:ext cx="2791838" cy="5571559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0C9761-88D9-4913-A20E-5BF65149A726}"/>
              </a:ext>
            </a:extLst>
          </p:cNvPr>
          <p:cNvSpPr/>
          <p:nvPr/>
        </p:nvSpPr>
        <p:spPr>
          <a:xfrm>
            <a:off x="3477639" y="1198892"/>
            <a:ext cx="2762654" cy="5571559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B8FB6D-533D-46FF-8847-422C9CE29CF9}"/>
              </a:ext>
            </a:extLst>
          </p:cNvPr>
          <p:cNvSpPr/>
          <p:nvPr/>
        </p:nvSpPr>
        <p:spPr>
          <a:xfrm>
            <a:off x="384244" y="1942983"/>
            <a:ext cx="2762654" cy="1322962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DDBBD0-00FC-4DF9-9C26-113213FF485E}"/>
              </a:ext>
            </a:extLst>
          </p:cNvPr>
          <p:cNvSpPr/>
          <p:nvPr/>
        </p:nvSpPr>
        <p:spPr>
          <a:xfrm>
            <a:off x="389108" y="3627143"/>
            <a:ext cx="2762654" cy="1322962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08808E-3E24-402B-BD6F-C305BCEB218D}"/>
              </a:ext>
            </a:extLst>
          </p:cNvPr>
          <p:cNvSpPr/>
          <p:nvPr/>
        </p:nvSpPr>
        <p:spPr>
          <a:xfrm>
            <a:off x="384244" y="5282119"/>
            <a:ext cx="2762654" cy="1322962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057CBD-B1EC-4824-8425-6706D1C95199}"/>
              </a:ext>
            </a:extLst>
          </p:cNvPr>
          <p:cNvSpPr/>
          <p:nvPr/>
        </p:nvSpPr>
        <p:spPr>
          <a:xfrm>
            <a:off x="3492231" y="1904072"/>
            <a:ext cx="2762654" cy="1322962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2AEB19-9EBB-46F8-A4AA-310B62B1F2C7}"/>
              </a:ext>
            </a:extLst>
          </p:cNvPr>
          <p:cNvSpPr/>
          <p:nvPr/>
        </p:nvSpPr>
        <p:spPr>
          <a:xfrm>
            <a:off x="3477639" y="3627143"/>
            <a:ext cx="2762654" cy="1322962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0E2762-FBC3-41D4-8E97-05AB3FDED21D}"/>
              </a:ext>
            </a:extLst>
          </p:cNvPr>
          <p:cNvSpPr/>
          <p:nvPr/>
        </p:nvSpPr>
        <p:spPr>
          <a:xfrm>
            <a:off x="3477639" y="5311303"/>
            <a:ext cx="2762654" cy="1322962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3C39AA-BBFB-4959-A68F-825E25433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846696"/>
              </p:ext>
            </p:extLst>
          </p:nvPr>
        </p:nvGraphicFramePr>
        <p:xfrm>
          <a:off x="6575897" y="1904072"/>
          <a:ext cx="5515584" cy="336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303">
                  <a:extLst>
                    <a:ext uri="{9D8B030D-6E8A-4147-A177-3AD203B41FA5}">
                      <a16:colId xmlns:a16="http://schemas.microsoft.com/office/drawing/2014/main" val="2787890633"/>
                    </a:ext>
                  </a:extLst>
                </a:gridCol>
                <a:gridCol w="1984443">
                  <a:extLst>
                    <a:ext uri="{9D8B030D-6E8A-4147-A177-3AD203B41FA5}">
                      <a16:colId xmlns:a16="http://schemas.microsoft.com/office/drawing/2014/main" val="3744699233"/>
                    </a:ext>
                  </a:extLst>
                </a:gridCol>
                <a:gridCol w="1439693">
                  <a:extLst>
                    <a:ext uri="{9D8B030D-6E8A-4147-A177-3AD203B41FA5}">
                      <a16:colId xmlns:a16="http://schemas.microsoft.com/office/drawing/2014/main" val="426342153"/>
                    </a:ext>
                  </a:extLst>
                </a:gridCol>
                <a:gridCol w="1352145">
                  <a:extLst>
                    <a:ext uri="{9D8B030D-6E8A-4147-A177-3AD203B41FA5}">
                      <a16:colId xmlns:a16="http://schemas.microsoft.com/office/drawing/2014/main" val="926695343"/>
                    </a:ext>
                  </a:extLst>
                </a:gridCol>
              </a:tblGrid>
              <a:tr h="917871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Adobe Caslon Pro Bold" panose="0205070206050A020403" pitchFamily="18" charset="0"/>
                      </a:endParaRP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523735"/>
                  </a:ext>
                </a:extLst>
              </a:tr>
              <a:tr h="48999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dobe Caslon Pro Bold" panose="0205070206050A020403" pitchFamily="18" charset="0"/>
                        </a:rPr>
                        <a:t>01.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Travis Doyle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10,880,651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23.06%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804136"/>
                  </a:ext>
                </a:extLst>
              </a:tr>
              <a:tr h="48999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dobe Caslon Pro Bold" panose="0205070206050A020403" pitchFamily="18" charset="0"/>
                        </a:rPr>
                        <a:t>02.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Joseph Hill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10,539,847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dobe Caslon Pro Bold" panose="0205070206050A020403" pitchFamily="18" charset="0"/>
                        </a:rPr>
                        <a:t>22.34%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332693"/>
                  </a:ext>
                </a:extLst>
              </a:tr>
              <a:tr h="48999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dobe Caslon Pro Bold" panose="0205070206050A020403" pitchFamily="18" charset="0"/>
                        </a:rPr>
                        <a:t>03.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April Watkins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9,402,955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19.93%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481045"/>
                  </a:ext>
                </a:extLst>
              </a:tr>
              <a:tr h="48999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dobe Caslon Pro Bold" panose="0205070206050A020403" pitchFamily="18" charset="0"/>
                        </a:rPr>
                        <a:t>04.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Susan Dean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8,667,028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18.37%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107805"/>
                  </a:ext>
                </a:extLst>
              </a:tr>
              <a:tr h="48999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dobe Caslon Pro Bold" panose="0205070206050A020403" pitchFamily="18" charset="0"/>
                        </a:rPr>
                        <a:t>05.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Sara Robertson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7,697,702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16.31%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05913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0A50A482-BEE0-492A-BD5C-F5278C4A35D1}"/>
              </a:ext>
            </a:extLst>
          </p:cNvPr>
          <p:cNvSpPr/>
          <p:nvPr/>
        </p:nvSpPr>
        <p:spPr>
          <a:xfrm>
            <a:off x="6556442" y="5817139"/>
            <a:ext cx="5535040" cy="953311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dobe Caslon Pro Bold" panose="0205070206050A020403" pitchFamily="18" charset="0"/>
              </a:rPr>
              <a:t>Joseph Hill: 34.95% (Note: Joseph Hill is the only sales rep who ranks in both Top 3 Revenue and Profit Margin)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84AF6F8-283F-407B-B3DD-5308DF496E49}"/>
              </a:ext>
            </a:extLst>
          </p:cNvPr>
          <p:cNvSpPr/>
          <p:nvPr/>
        </p:nvSpPr>
        <p:spPr>
          <a:xfrm>
            <a:off x="6575897" y="1198892"/>
            <a:ext cx="5515584" cy="690591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Adobe Caslon Pro Bold" panose="0205070206050A020403" pitchFamily="18" charset="0"/>
              </a:rPr>
              <a:t>Top 5 Revenue Contributors (Ranked &amp; Detailed)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1C91E5-8062-4B17-8E2C-A71E393A746B}"/>
              </a:ext>
            </a:extLst>
          </p:cNvPr>
          <p:cNvSpPr txBox="1"/>
          <p:nvPr/>
        </p:nvSpPr>
        <p:spPr>
          <a:xfrm>
            <a:off x="783077" y="1307254"/>
            <a:ext cx="1964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dobe Caslon Pro" panose="0205050205050A020403" pitchFamily="18" charset="0"/>
              </a:rPr>
              <a:t>Top 3 by Total Revenue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B3C948-EE65-426D-9737-324461DE9D28}"/>
              </a:ext>
            </a:extLst>
          </p:cNvPr>
          <p:cNvSpPr txBox="1"/>
          <p:nvPr/>
        </p:nvSpPr>
        <p:spPr>
          <a:xfrm>
            <a:off x="3876472" y="1307254"/>
            <a:ext cx="1964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dobe Caslon Pro" panose="0205050205050A020403" pitchFamily="18" charset="0"/>
              </a:rPr>
              <a:t>Top 3 by Profit Margin 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3E54BE-06D2-4D67-B209-4764CEA7B9EB}"/>
              </a:ext>
            </a:extLst>
          </p:cNvPr>
          <p:cNvSpPr txBox="1"/>
          <p:nvPr/>
        </p:nvSpPr>
        <p:spPr>
          <a:xfrm>
            <a:off x="848738" y="2155473"/>
            <a:ext cx="1833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Adobe Caslon Pro Bold" panose="0205070206050A020403" pitchFamily="18" charset="0"/>
              </a:rPr>
              <a:t>Travis Doyle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46A08-6730-41A8-A87D-373A6377BE96}"/>
              </a:ext>
            </a:extLst>
          </p:cNvPr>
          <p:cNvSpPr txBox="1"/>
          <p:nvPr/>
        </p:nvSpPr>
        <p:spPr>
          <a:xfrm>
            <a:off x="588523" y="2635075"/>
            <a:ext cx="23540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dobe Caslon Pro Bold" panose="0205070206050A020403" pitchFamily="18" charset="0"/>
              </a:rPr>
              <a:t>1,088,0651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CB6CD1-DF9C-474A-B8FC-0297021E2709}"/>
              </a:ext>
            </a:extLst>
          </p:cNvPr>
          <p:cNvSpPr txBox="1"/>
          <p:nvPr/>
        </p:nvSpPr>
        <p:spPr>
          <a:xfrm flipH="1">
            <a:off x="6575897" y="2063139"/>
            <a:ext cx="77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dobe Caslon Pro Bold" panose="0205070206050A020403" pitchFamily="18" charset="0"/>
              </a:rPr>
              <a:t>Sl. No.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927371-48CD-4D5A-8E90-D716670AE10E}"/>
              </a:ext>
            </a:extLst>
          </p:cNvPr>
          <p:cNvSpPr txBox="1"/>
          <p:nvPr/>
        </p:nvSpPr>
        <p:spPr>
          <a:xfrm flipH="1">
            <a:off x="7729671" y="2048872"/>
            <a:ext cx="11040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dobe Caslon Pro Bold" panose="0205070206050A020403" pitchFamily="18" charset="0"/>
              </a:rPr>
              <a:t>Sales</a:t>
            </a:r>
            <a:r>
              <a:rPr lang="en-IN" sz="2000" b="1" dirty="0">
                <a:latin typeface="Adobe Caslon Pro Bold" panose="0205070206050A020403" pitchFamily="18" charset="0"/>
              </a:rPr>
              <a:t> </a:t>
            </a:r>
            <a:r>
              <a:rPr lang="en-IN" b="1" dirty="0">
                <a:latin typeface="Adobe Caslon Pro Bold" panose="0205070206050A020403" pitchFamily="18" charset="0"/>
              </a:rPr>
              <a:t>Persons</a:t>
            </a:r>
            <a:endParaRPr lang="en-IN" sz="2000" b="1" dirty="0">
              <a:latin typeface="Adobe Caslon Pro Bold" panose="0205070206050A0204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17BF85-E4CA-4F31-82D3-4B7CEB1A9019}"/>
              </a:ext>
            </a:extLst>
          </p:cNvPr>
          <p:cNvSpPr txBox="1"/>
          <p:nvPr/>
        </p:nvSpPr>
        <p:spPr>
          <a:xfrm flipH="1">
            <a:off x="9419856" y="2053651"/>
            <a:ext cx="11819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dobe Caslon Pro Bold" panose="0205070206050A020403" pitchFamily="18" charset="0"/>
              </a:rPr>
              <a:t>Actual</a:t>
            </a:r>
            <a:r>
              <a:rPr lang="en-IN" sz="2000" b="1" dirty="0">
                <a:latin typeface="Adobe Caslon Pro Bold" panose="0205070206050A020403" pitchFamily="18" charset="0"/>
              </a:rPr>
              <a:t> </a:t>
            </a:r>
            <a:r>
              <a:rPr lang="en-IN" b="1" dirty="0">
                <a:latin typeface="Adobe Caslon Pro Bold" panose="0205070206050A020403" pitchFamily="18" charset="0"/>
              </a:rPr>
              <a:t>Revenue</a:t>
            </a:r>
            <a:endParaRPr lang="en-IN" sz="2000" b="1" dirty="0">
              <a:latin typeface="Adobe Caslon Pro Bold" panose="0205070206050A020403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8DAC62-1F59-4EBE-A891-00D05355D0CA}"/>
              </a:ext>
            </a:extLst>
          </p:cNvPr>
          <p:cNvSpPr txBox="1"/>
          <p:nvPr/>
        </p:nvSpPr>
        <p:spPr>
          <a:xfrm flipH="1">
            <a:off x="10702287" y="2054532"/>
            <a:ext cx="148971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Adobe Caslon Pro Bold" panose="0205070206050A020403" pitchFamily="18" charset="0"/>
              </a:rPr>
              <a:t>% </a:t>
            </a:r>
            <a:r>
              <a:rPr lang="en-IN" dirty="0">
                <a:latin typeface="Adobe Caslon Pro Bold" panose="0205070206050A020403" pitchFamily="18" charset="0"/>
              </a:rPr>
              <a:t>Contribution</a:t>
            </a:r>
            <a:endParaRPr lang="en-IN" sz="2000" dirty="0">
              <a:latin typeface="Adobe Caslon Pro Bold" panose="0205070206050A0204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34F92D-5949-463C-9315-73610BA9E073}"/>
              </a:ext>
            </a:extLst>
          </p:cNvPr>
          <p:cNvSpPr txBox="1"/>
          <p:nvPr/>
        </p:nvSpPr>
        <p:spPr>
          <a:xfrm>
            <a:off x="3876472" y="2155473"/>
            <a:ext cx="1833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Adobe Caslon Pro Bold" panose="0205070206050A020403" pitchFamily="18" charset="0"/>
              </a:rPr>
              <a:t>Susan Dean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4974D7-5E38-4280-8F8A-952453EEC062}"/>
              </a:ext>
            </a:extLst>
          </p:cNvPr>
          <p:cNvSpPr txBox="1"/>
          <p:nvPr/>
        </p:nvSpPr>
        <p:spPr>
          <a:xfrm>
            <a:off x="3706238" y="2611958"/>
            <a:ext cx="2354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dobe Caslon Pro Bold" panose="0205070206050A020403" pitchFamily="18" charset="0"/>
              </a:rPr>
              <a:t>35.11%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9DE4B9-8378-44D7-8AEF-148C8CFEA1A2}"/>
              </a:ext>
            </a:extLst>
          </p:cNvPr>
          <p:cNvSpPr txBox="1"/>
          <p:nvPr/>
        </p:nvSpPr>
        <p:spPr>
          <a:xfrm>
            <a:off x="674944" y="3821712"/>
            <a:ext cx="2181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Adobe Caslon Pro Bold" panose="0205070206050A020403" pitchFamily="18" charset="0"/>
              </a:rPr>
              <a:t>Joseph Hill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893DFB-A698-4EA3-8B0C-AE79C10C51AE}"/>
              </a:ext>
            </a:extLst>
          </p:cNvPr>
          <p:cNvSpPr txBox="1"/>
          <p:nvPr/>
        </p:nvSpPr>
        <p:spPr>
          <a:xfrm>
            <a:off x="588523" y="4305239"/>
            <a:ext cx="23540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dobe Caslon Pro Bold" panose="0205070206050A020403" pitchFamily="18" charset="0"/>
              </a:rPr>
              <a:t>1,053,9847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5DBCAE-8D95-4441-BD27-071D7FAC371C}"/>
              </a:ext>
            </a:extLst>
          </p:cNvPr>
          <p:cNvSpPr txBox="1"/>
          <p:nvPr/>
        </p:nvSpPr>
        <p:spPr>
          <a:xfrm>
            <a:off x="674944" y="5494173"/>
            <a:ext cx="2181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Adobe Caslon Pro Bold" panose="0205070206050A020403" pitchFamily="18" charset="0"/>
              </a:rPr>
              <a:t>April Watkins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43D9DD-A58E-442F-AB76-633B854ADBD4}"/>
              </a:ext>
            </a:extLst>
          </p:cNvPr>
          <p:cNvSpPr txBox="1"/>
          <p:nvPr/>
        </p:nvSpPr>
        <p:spPr>
          <a:xfrm>
            <a:off x="579596" y="5972374"/>
            <a:ext cx="2354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dobe Caslon Pro Bold" panose="0205070206050A020403" pitchFamily="18" charset="0"/>
              </a:rPr>
              <a:t>9,402,955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95331C-4A8E-4C8E-BC70-8205E05C0798}"/>
              </a:ext>
            </a:extLst>
          </p:cNvPr>
          <p:cNvSpPr txBox="1"/>
          <p:nvPr/>
        </p:nvSpPr>
        <p:spPr>
          <a:xfrm>
            <a:off x="3419273" y="3821712"/>
            <a:ext cx="2748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Adobe Caslon Pro Bold" panose="0205070206050A020403" pitchFamily="18" charset="0"/>
              </a:rPr>
              <a:t>Sara Robertson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6DB072-BC42-4915-B007-223F2AAC5B78}"/>
              </a:ext>
            </a:extLst>
          </p:cNvPr>
          <p:cNvSpPr txBox="1"/>
          <p:nvPr/>
        </p:nvSpPr>
        <p:spPr>
          <a:xfrm>
            <a:off x="3682986" y="4305239"/>
            <a:ext cx="2354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dobe Caslon Pro Bold" panose="0205070206050A020403" pitchFamily="18" charset="0"/>
              </a:rPr>
              <a:t>35.02%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DAE58F-118F-4085-B209-9A1FC5531B16}"/>
              </a:ext>
            </a:extLst>
          </p:cNvPr>
          <p:cNvSpPr txBox="1"/>
          <p:nvPr/>
        </p:nvSpPr>
        <p:spPr>
          <a:xfrm>
            <a:off x="3499527" y="5510709"/>
            <a:ext cx="2748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Adobe Caslon Pro Bold" panose="0205070206050A020403" pitchFamily="18" charset="0"/>
              </a:rPr>
              <a:t>Joseph Hill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C25199-8F47-481B-A55B-F82072BE1AF9}"/>
              </a:ext>
            </a:extLst>
          </p:cNvPr>
          <p:cNvSpPr txBox="1"/>
          <p:nvPr/>
        </p:nvSpPr>
        <p:spPr>
          <a:xfrm>
            <a:off x="3682986" y="5963829"/>
            <a:ext cx="2354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dobe Caslon Pro Bold" panose="0205070206050A020403" pitchFamily="18" charset="0"/>
              </a:rPr>
              <a:t>34.95%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85D7C38-680B-4C24-BEFC-985ED00AF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98838"/>
              </p:ext>
            </p:extLst>
          </p:nvPr>
        </p:nvGraphicFramePr>
        <p:xfrm>
          <a:off x="6575897" y="5257304"/>
          <a:ext cx="5515584" cy="464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5584">
                  <a:extLst>
                    <a:ext uri="{9D8B030D-6E8A-4147-A177-3AD203B41FA5}">
                      <a16:colId xmlns:a16="http://schemas.microsoft.com/office/drawing/2014/main" val="849740699"/>
                    </a:ext>
                  </a:extLst>
                </a:gridCol>
              </a:tblGrid>
              <a:tr h="464299"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r>
                        <a:rPr lang="en-IN" dirty="0">
                          <a:latin typeface="Adobe Caslon Pro Bold" panose="0205070206050A020403" pitchFamily="18" charset="0"/>
                        </a:rPr>
                        <a:t>Grand Total =                          47,188,183 </a:t>
                      </a:r>
                      <a:r>
                        <a:rPr lang="en-IN" dirty="0"/>
                        <a:t>            </a:t>
                      </a:r>
                      <a:r>
                        <a:rPr lang="en-IN" dirty="0">
                          <a:latin typeface="Adobe Caslon Pro Bold" panose="0205070206050A020403" pitchFamily="18" charset="0"/>
                        </a:rPr>
                        <a:t>100.00%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49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50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08764F-0DB4-4DD5-A560-6E9674970F26}"/>
              </a:ext>
            </a:extLst>
          </p:cNvPr>
          <p:cNvSpPr txBox="1"/>
          <p:nvPr/>
        </p:nvSpPr>
        <p:spPr>
          <a:xfrm>
            <a:off x="252919" y="136187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TASK 7 – Location-Based KPIs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CBDA0-9FA8-44EF-909D-9E91963722A5}"/>
              </a:ext>
            </a:extLst>
          </p:cNvPr>
          <p:cNvSpPr txBox="1"/>
          <p:nvPr/>
        </p:nvSpPr>
        <p:spPr>
          <a:xfrm flipH="1">
            <a:off x="252919" y="610709"/>
            <a:ext cx="11167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dobe Caslon Pro Bold" panose="0205070206050A020403" pitchFamily="18" charset="0"/>
              </a:rPr>
              <a:t>Geographic Breakdown of Revenue, Volume, and Profit Margins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F45745-B5BD-4661-A5FA-227817D65724}"/>
              </a:ext>
            </a:extLst>
          </p:cNvPr>
          <p:cNvSpPr/>
          <p:nvPr/>
        </p:nvSpPr>
        <p:spPr>
          <a:xfrm>
            <a:off x="77821" y="97275"/>
            <a:ext cx="175098" cy="80005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E52475-A2E0-434C-A263-9A14F9D7A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245828"/>
              </p:ext>
            </p:extLst>
          </p:nvPr>
        </p:nvGraphicFramePr>
        <p:xfrm>
          <a:off x="77821" y="955075"/>
          <a:ext cx="289884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843">
                  <a:extLst>
                    <a:ext uri="{9D8B030D-6E8A-4147-A177-3AD203B41FA5}">
                      <a16:colId xmlns:a16="http://schemas.microsoft.com/office/drawing/2014/main" val="48114311"/>
                    </a:ext>
                  </a:extLst>
                </a:gridCol>
              </a:tblGrid>
              <a:tr h="29238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Total Revenue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94920"/>
                  </a:ext>
                </a:extLst>
              </a:tr>
              <a:tr h="29238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Adobe Caslon Pro Bold" panose="0205070206050A020403" pitchFamily="18" charset="0"/>
                        </a:rPr>
                        <a:t>61,567,883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451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B93604-6C4C-418D-AF4B-BCD9A82D2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49763"/>
              </p:ext>
            </p:extLst>
          </p:nvPr>
        </p:nvGraphicFramePr>
        <p:xfrm>
          <a:off x="3137543" y="971491"/>
          <a:ext cx="289884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843">
                  <a:extLst>
                    <a:ext uri="{9D8B030D-6E8A-4147-A177-3AD203B41FA5}">
                      <a16:colId xmlns:a16="http://schemas.microsoft.com/office/drawing/2014/main" val="481143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Total Quantity Sold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949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Adobe Caslon Pro Bold" panose="0205070206050A020403" pitchFamily="18" charset="0"/>
                        </a:rPr>
                        <a:t>3,050,309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451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D26B53-D910-4B5F-869E-7D08548B2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016756"/>
              </p:ext>
            </p:extLst>
          </p:nvPr>
        </p:nvGraphicFramePr>
        <p:xfrm>
          <a:off x="6182517" y="971476"/>
          <a:ext cx="289884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843">
                  <a:extLst>
                    <a:ext uri="{9D8B030D-6E8A-4147-A177-3AD203B41FA5}">
                      <a16:colId xmlns:a16="http://schemas.microsoft.com/office/drawing/2014/main" val="481143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Total Profit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949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Adobe Caslon Pro Bold" panose="0205070206050A020403" pitchFamily="18" charset="0"/>
                        </a:rPr>
                        <a:t>26,784,833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4519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DF5C9D-0212-4D74-90C1-409FF0AC0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52807"/>
              </p:ext>
            </p:extLst>
          </p:nvPr>
        </p:nvGraphicFramePr>
        <p:xfrm>
          <a:off x="9227491" y="955163"/>
          <a:ext cx="289884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843">
                  <a:extLst>
                    <a:ext uri="{9D8B030D-6E8A-4147-A177-3AD203B41FA5}">
                      <a16:colId xmlns:a16="http://schemas.microsoft.com/office/drawing/2014/main" val="48114311"/>
                    </a:ext>
                  </a:extLst>
                </a:gridCol>
              </a:tblGrid>
              <a:tr h="36408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dobe Caslon Pro Bold" panose="0205070206050A020403" pitchFamily="18" charset="0"/>
                        </a:rPr>
                        <a:t>Overall Profit Margin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94920"/>
                  </a:ext>
                </a:extLst>
              </a:tr>
              <a:tr h="36408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Adobe Caslon Pro Bold" panose="0205070206050A020403" pitchFamily="18" charset="0"/>
                        </a:rPr>
                        <a:t>43.50%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45197"/>
                  </a:ext>
                </a:extLst>
              </a:tr>
            </a:tbl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C2F9FE6-AB1F-4F14-96F9-35358E11AC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3104351"/>
              </p:ext>
            </p:extLst>
          </p:nvPr>
        </p:nvGraphicFramePr>
        <p:xfrm>
          <a:off x="-2" y="1744337"/>
          <a:ext cx="4309355" cy="5113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FCC5370C-1683-4826-BE17-0D8A4530A4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5238154"/>
              </p:ext>
            </p:extLst>
          </p:nvPr>
        </p:nvGraphicFramePr>
        <p:xfrm>
          <a:off x="4309353" y="1702997"/>
          <a:ext cx="4173166" cy="5155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616A6EEC-DFBA-46EF-BFBA-AD5FC7C436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8452426"/>
              </p:ext>
            </p:extLst>
          </p:nvPr>
        </p:nvGraphicFramePr>
        <p:xfrm>
          <a:off x="8375514" y="1686595"/>
          <a:ext cx="3816486" cy="38387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388A803-2962-401F-86C8-D3309235B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983467"/>
              </p:ext>
            </p:extLst>
          </p:nvPr>
        </p:nvGraphicFramePr>
        <p:xfrm>
          <a:off x="8472790" y="5525311"/>
          <a:ext cx="3719210" cy="1332689"/>
        </p:xfrm>
        <a:graphic>
          <a:graphicData uri="http://schemas.openxmlformats.org/drawingml/2006/table">
            <a:tbl>
              <a:tblPr/>
              <a:tblGrid>
                <a:gridCol w="3719210">
                  <a:extLst>
                    <a:ext uri="{9D8B030D-6E8A-4147-A177-3AD203B41FA5}">
                      <a16:colId xmlns:a16="http://schemas.microsoft.com/office/drawing/2014/main" val="3605604595"/>
                    </a:ext>
                  </a:extLst>
                </a:gridCol>
              </a:tblGrid>
              <a:tr h="133268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009567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0874EFD4-D1AA-4C8D-84B5-67B6AAB54478}"/>
              </a:ext>
            </a:extLst>
          </p:cNvPr>
          <p:cNvSpPr/>
          <p:nvPr/>
        </p:nvSpPr>
        <p:spPr>
          <a:xfrm>
            <a:off x="8480087" y="5525312"/>
            <a:ext cx="3714345" cy="282101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dobe Caslon Pro Bold" panose="0205070206050A020403" pitchFamily="18" charset="0"/>
              </a:rPr>
              <a:t>Key Insights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A7AF9A-4FC4-4CE0-9108-171236CEFE27}"/>
              </a:ext>
            </a:extLst>
          </p:cNvPr>
          <p:cNvSpPr txBox="1"/>
          <p:nvPr/>
        </p:nvSpPr>
        <p:spPr>
          <a:xfrm flipH="1">
            <a:off x="8437931" y="5820769"/>
            <a:ext cx="199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u="sng" dirty="0">
                <a:latin typeface="Adobe Caslon Pro Bold" panose="0205070206050A020403" pitchFamily="18" charset="0"/>
              </a:rPr>
              <a:t>Highest Revenue</a:t>
            </a:r>
          </a:p>
          <a:p>
            <a:r>
              <a:rPr lang="en-IN" sz="1400" dirty="0">
                <a:latin typeface="Adobe Caslon Pro" panose="0205050205050A020403" pitchFamily="18" charset="0"/>
              </a:rPr>
              <a:t>San Antonio ($7.34M)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AC5E69-EA25-4B4D-A072-3FB66E47DB21}"/>
              </a:ext>
            </a:extLst>
          </p:cNvPr>
          <p:cNvCxnSpPr>
            <a:cxnSpLocks/>
          </p:cNvCxnSpPr>
          <p:nvPr/>
        </p:nvCxnSpPr>
        <p:spPr>
          <a:xfrm flipV="1">
            <a:off x="10419120" y="5807413"/>
            <a:ext cx="4865" cy="1050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70356C-7B5E-4F36-9F74-D00C6202AFA5}"/>
              </a:ext>
            </a:extLst>
          </p:cNvPr>
          <p:cNvCxnSpPr>
            <a:cxnSpLocks/>
          </p:cNvCxnSpPr>
          <p:nvPr/>
        </p:nvCxnSpPr>
        <p:spPr>
          <a:xfrm flipH="1">
            <a:off x="8458060" y="6324534"/>
            <a:ext cx="3733940" cy="97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A264415-86A7-4941-A27B-798F49522A07}"/>
              </a:ext>
            </a:extLst>
          </p:cNvPr>
          <p:cNvSpPr txBox="1"/>
          <p:nvPr/>
        </p:nvSpPr>
        <p:spPr>
          <a:xfrm flipH="1">
            <a:off x="8437931" y="6407381"/>
            <a:ext cx="199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u="sng" dirty="0">
                <a:latin typeface="Adobe Caslon Pro Bold" panose="0205070206050A020403" pitchFamily="18" charset="0"/>
              </a:rPr>
              <a:t>Highest Quantity Sold</a:t>
            </a:r>
          </a:p>
          <a:p>
            <a:r>
              <a:rPr lang="en-IN" sz="1400" dirty="0">
                <a:latin typeface="Adobe Caslon Pro" panose="0205050205050A020403" pitchFamily="18" charset="0"/>
              </a:rPr>
              <a:t>San Antonio ((345K)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2C0E7C-0AB2-4951-B5B3-37AACD9142A3}"/>
              </a:ext>
            </a:extLst>
          </p:cNvPr>
          <p:cNvSpPr txBox="1"/>
          <p:nvPr/>
        </p:nvSpPr>
        <p:spPr>
          <a:xfrm flipH="1">
            <a:off x="10410228" y="5813842"/>
            <a:ext cx="199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u="sng" dirty="0">
                <a:latin typeface="Adobe Caslon Pro Bold" panose="0205070206050A020403" pitchFamily="18" charset="0"/>
              </a:rPr>
              <a:t>Highest Profit </a:t>
            </a:r>
          </a:p>
          <a:p>
            <a:r>
              <a:rPr lang="en-IN" sz="1400" dirty="0">
                <a:latin typeface="Adobe Caslon Pro" panose="0205050205050A020403" pitchFamily="18" charset="0"/>
              </a:rPr>
              <a:t>San Antonio ($3.37M)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17A810-EEDB-4C44-89C9-CCA3BDE434DE}"/>
              </a:ext>
            </a:extLst>
          </p:cNvPr>
          <p:cNvSpPr txBox="1"/>
          <p:nvPr/>
        </p:nvSpPr>
        <p:spPr>
          <a:xfrm flipH="1">
            <a:off x="10404045" y="6407381"/>
            <a:ext cx="199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u="sng" dirty="0">
                <a:latin typeface="Adobe Caslon Pro Bold" panose="0205070206050A020403" pitchFamily="18" charset="0"/>
              </a:rPr>
              <a:t>Highest Profit Margin</a:t>
            </a:r>
          </a:p>
          <a:p>
            <a:r>
              <a:rPr lang="en-IN" sz="1400" dirty="0">
                <a:latin typeface="Adobe Caslon Pro" panose="0205050205050A020403" pitchFamily="18" charset="0"/>
              </a:rPr>
              <a:t>San Antonio (35.93%) </a:t>
            </a:r>
          </a:p>
        </p:txBody>
      </p:sp>
    </p:spTree>
    <p:extLst>
      <p:ext uri="{BB962C8B-B14F-4D97-AF65-F5344CB8AC3E}">
        <p14:creationId xmlns:p14="http://schemas.microsoft.com/office/powerpoint/2010/main" val="5266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422377-6031-4CF6-8CCE-C7763F2C85B9}"/>
              </a:ext>
            </a:extLst>
          </p:cNvPr>
          <p:cNvSpPr txBox="1"/>
          <p:nvPr/>
        </p:nvSpPr>
        <p:spPr>
          <a:xfrm>
            <a:off x="282098" y="175097"/>
            <a:ext cx="9941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TASK 8 – Payment Method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A8DEE-0F69-4DF6-A3DC-3C7ECE4A10AC}"/>
              </a:ext>
            </a:extLst>
          </p:cNvPr>
          <p:cNvSpPr txBox="1"/>
          <p:nvPr/>
        </p:nvSpPr>
        <p:spPr>
          <a:xfrm flipH="1">
            <a:off x="282098" y="622564"/>
            <a:ext cx="1026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dobe Caslon Pro" panose="0205050205050A020403" pitchFamily="18" charset="0"/>
              </a:rPr>
              <a:t>Comprehensive breakdown of revenue, order volume, and customer preferences.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6D7D05-BB42-4A2B-A335-C5F6F1F34F28}"/>
              </a:ext>
            </a:extLst>
          </p:cNvPr>
          <p:cNvSpPr/>
          <p:nvPr/>
        </p:nvSpPr>
        <p:spPr>
          <a:xfrm>
            <a:off x="116728" y="109922"/>
            <a:ext cx="155642" cy="82393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C76324D-0FDD-4117-A623-20C0AB8A45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6127380"/>
              </p:ext>
            </p:extLst>
          </p:nvPr>
        </p:nvGraphicFramePr>
        <p:xfrm>
          <a:off x="1" y="1264587"/>
          <a:ext cx="4357991" cy="2793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A6136A-94E9-4AFE-8B6F-F0915063B8D0}"/>
              </a:ext>
            </a:extLst>
          </p:cNvPr>
          <p:cNvSpPr txBox="1"/>
          <p:nvPr/>
        </p:nvSpPr>
        <p:spPr>
          <a:xfrm flipH="1">
            <a:off x="694987" y="1022674"/>
            <a:ext cx="2831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latin typeface="Adobe Caslon Pro Bold" panose="0205070206050A020403" pitchFamily="18" charset="0"/>
              </a:rPr>
              <a:t>1. Revenue Share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3286672-BA21-4214-965F-69AA271F72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2306900"/>
              </p:ext>
            </p:extLst>
          </p:nvPr>
        </p:nvGraphicFramePr>
        <p:xfrm>
          <a:off x="3939707" y="1230922"/>
          <a:ext cx="4357992" cy="2793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B47DD39-0F48-411F-99AD-6163B7615658}"/>
              </a:ext>
            </a:extLst>
          </p:cNvPr>
          <p:cNvSpPr txBox="1"/>
          <p:nvPr/>
        </p:nvSpPr>
        <p:spPr>
          <a:xfrm flipH="1">
            <a:off x="4357993" y="1022674"/>
            <a:ext cx="3949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solidFill>
                  <a:schemeClr val="bg1"/>
                </a:solidFill>
                <a:latin typeface="Adobe Caslon Pro Bold" panose="0205070206050A020403" pitchFamily="18" charset="0"/>
              </a:rPr>
              <a:t>2.Count of Orders by Payment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88A8F81A-71FE-47CA-802A-EA8400F919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3253413"/>
              </p:ext>
            </p:extLst>
          </p:nvPr>
        </p:nvGraphicFramePr>
        <p:xfrm>
          <a:off x="0" y="3657600"/>
          <a:ext cx="4357992" cy="3200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12AAEDC4-ED38-43A4-8BC9-E962D2D700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7801797"/>
              </p:ext>
            </p:extLst>
          </p:nvPr>
        </p:nvGraphicFramePr>
        <p:xfrm>
          <a:off x="4231532" y="3657599"/>
          <a:ext cx="4075888" cy="3200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DD92B0C-B23C-4834-8145-4865FA510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23858"/>
              </p:ext>
            </p:extLst>
          </p:nvPr>
        </p:nvGraphicFramePr>
        <p:xfrm>
          <a:off x="8129084" y="622564"/>
          <a:ext cx="4062916" cy="6235436"/>
        </p:xfrm>
        <a:graphic>
          <a:graphicData uri="http://schemas.openxmlformats.org/drawingml/2006/table">
            <a:tbl>
              <a:tblPr/>
              <a:tblGrid>
                <a:gridCol w="4062916">
                  <a:extLst>
                    <a:ext uri="{9D8B030D-6E8A-4147-A177-3AD203B41FA5}">
                      <a16:colId xmlns:a16="http://schemas.microsoft.com/office/drawing/2014/main" val="1413662625"/>
                    </a:ext>
                  </a:extLst>
                </a:gridCol>
              </a:tblGrid>
              <a:tr h="623543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47587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3E52842F-D2A7-4B07-A802-13F6ABEF7C98}"/>
              </a:ext>
            </a:extLst>
          </p:cNvPr>
          <p:cNvSpPr txBox="1"/>
          <p:nvPr/>
        </p:nvSpPr>
        <p:spPr>
          <a:xfrm flipH="1">
            <a:off x="8122595" y="643135"/>
            <a:ext cx="4069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latin typeface="Adobe Caslon Pro Bold" panose="0205070206050A020403" pitchFamily="18" charset="0"/>
              </a:rPr>
              <a:t>Executive Summary &amp; Revenue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98C7F6-8E4D-4C67-95F5-DF942B2555E0}"/>
              </a:ext>
            </a:extLst>
          </p:cNvPr>
          <p:cNvSpPr txBox="1"/>
          <p:nvPr/>
        </p:nvSpPr>
        <p:spPr>
          <a:xfrm flipH="1">
            <a:off x="8129085" y="1189802"/>
            <a:ext cx="40694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dobe Caslon Pro Bold" panose="0205070206050A020403" pitchFamily="18" charset="0"/>
              </a:rPr>
              <a:t>Top Channel: </a:t>
            </a:r>
            <a:r>
              <a:rPr lang="en-IN" sz="1600" dirty="0">
                <a:latin typeface="Adobe Caslon Pro" panose="0205050205050A020403" pitchFamily="18" charset="0"/>
              </a:rPr>
              <a:t>Mobile Payment leads all key metrics, driving the highest volume and strong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obe Caslon Pro Bold" panose="0205070206050A020403" pitchFamily="18" charset="0"/>
              </a:rPr>
              <a:t>Highest Revenue:</a:t>
            </a:r>
            <a:r>
              <a:rPr lang="en-IN" sz="1400" dirty="0">
                <a:latin typeface="Adobe Caslon Pro" panose="0205050205050A020403" pitchFamily="18" charset="0"/>
              </a:rPr>
              <a:t> </a:t>
            </a:r>
            <a:r>
              <a:rPr lang="en-IN" sz="1600" dirty="0">
                <a:latin typeface="Adobe Caslon Pro" panose="0205050205050A020403" pitchFamily="18" charset="0"/>
              </a:rPr>
              <a:t>Debit Card Leads with </a:t>
            </a:r>
            <a:r>
              <a:rPr lang="en-IN" sz="1600" b="1" dirty="0">
                <a:latin typeface="Adobe Caslon Pro" panose="0205050205050A020403" pitchFamily="18" charset="0"/>
              </a:rPr>
              <a:t>$1,56,20,114; </a:t>
            </a:r>
            <a:r>
              <a:rPr lang="en-IN" sz="1600" dirty="0">
                <a:latin typeface="Adobe Caslon Pro" panose="0205050205050A020403" pitchFamily="18" charset="0"/>
              </a:rPr>
              <a:t>Mobile Payment follows closely at</a:t>
            </a:r>
            <a:r>
              <a:rPr lang="en-IN" sz="1600" b="1" dirty="0">
                <a:latin typeface="Adobe Caslon Pro" panose="0205050205050A020403" pitchFamily="18" charset="0"/>
              </a:rPr>
              <a:t> $1,54,61,629.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dobe Caslon Pro Bold" panose="0205070206050A020403" pitchFamily="18" charset="0"/>
              </a:rPr>
              <a:t>Highest Orders: </a:t>
            </a:r>
            <a:r>
              <a:rPr lang="en-IN" sz="1600" dirty="0">
                <a:latin typeface="Adobe Caslon Pro" panose="0205050205050A020403" pitchFamily="18" charset="0"/>
              </a:rPr>
              <a:t>Mobile</a:t>
            </a:r>
            <a:r>
              <a:rPr lang="en-IN" sz="1600" b="1" dirty="0">
                <a:latin typeface="Adobe Caslon Pro" panose="0205050205050A020403" pitchFamily="18" charset="0"/>
              </a:rPr>
              <a:t> </a:t>
            </a:r>
            <a:r>
              <a:rPr lang="en-IN" sz="1600" dirty="0">
                <a:latin typeface="Adobe Caslon Pro" panose="0205050205050A020403" pitchFamily="18" charset="0"/>
              </a:rPr>
              <a:t>Payment recorded</a:t>
            </a:r>
            <a:r>
              <a:rPr lang="en-IN" sz="1600" b="1" dirty="0">
                <a:latin typeface="Adobe Caslon Pro" panose="0205050205050A020403" pitchFamily="18" charset="0"/>
              </a:rPr>
              <a:t> 3,038 orders,</a:t>
            </a:r>
            <a:r>
              <a:rPr lang="en-IN" sz="1600" b="1" dirty="0">
                <a:latin typeface="Adobe Caslon Pro Bold" panose="0205070206050A020403" pitchFamily="18" charset="0"/>
              </a:rPr>
              <a:t> </a:t>
            </a:r>
            <a:r>
              <a:rPr lang="en-IN" sz="1600" u="sng" dirty="0">
                <a:latin typeface="Adobe Caslon Pro" panose="0205050205050A020403" pitchFamily="18" charset="0"/>
              </a:rPr>
              <a:t>slightly outperforming Debit Card </a:t>
            </a:r>
            <a:r>
              <a:rPr lang="en-IN" sz="1600" b="1" u="sng" dirty="0">
                <a:latin typeface="Adobe Caslon Pro" panose="0205050205050A020403" pitchFamily="18" charset="0"/>
              </a:rPr>
              <a:t>(3,008 orders).</a:t>
            </a:r>
            <a:endParaRPr lang="en-IN" sz="2000" b="1" u="sng" dirty="0">
              <a:latin typeface="Adobe Caslon Pro" panose="0205050205050A0204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2DE7CF-771D-4649-A212-B1CEAC77F820}"/>
              </a:ext>
            </a:extLst>
          </p:cNvPr>
          <p:cNvSpPr txBox="1"/>
          <p:nvPr/>
        </p:nvSpPr>
        <p:spPr>
          <a:xfrm flipH="1">
            <a:off x="8127456" y="3693793"/>
            <a:ext cx="4069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latin typeface="Adobe Caslon Pro Bold" panose="0205070206050A020403" pitchFamily="18" charset="0"/>
              </a:rPr>
              <a:t>Customer Preferences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96C62-1CDF-4434-AC54-D926CFD1F19D}"/>
              </a:ext>
            </a:extLst>
          </p:cNvPr>
          <p:cNvSpPr txBox="1"/>
          <p:nvPr/>
        </p:nvSpPr>
        <p:spPr>
          <a:xfrm flipH="1">
            <a:off x="8129085" y="4166459"/>
            <a:ext cx="40694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dobe Caslon Pro Bold" panose="0205070206050A020403" pitchFamily="18" charset="0"/>
              </a:rPr>
              <a:t>By Gender (Male/Female): </a:t>
            </a:r>
            <a:r>
              <a:rPr lang="en-IN" sz="1600" dirty="0">
                <a:latin typeface="Adobe Caslon Pro" panose="0205050205050A020403" pitchFamily="18" charset="0"/>
              </a:rPr>
              <a:t>Both demographics strongly prefer Mobile Payment at checkout.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dobe Caslon Pro" panose="0205050205050A020403" pitchFamily="18" charset="0"/>
              </a:rPr>
              <a:t>By </a:t>
            </a:r>
            <a:r>
              <a:rPr lang="en-IN" sz="1600" b="1" dirty="0">
                <a:latin typeface="Adobe Caslon Pro Bold" panose="0205070206050A020403" pitchFamily="18" charset="0"/>
              </a:rPr>
              <a:t>Gender</a:t>
            </a:r>
            <a:r>
              <a:rPr lang="en-IN" sz="1600" b="1" dirty="0">
                <a:latin typeface="Adobe Caslon Pro" panose="0205050205050A020403" pitchFamily="18" charset="0"/>
              </a:rPr>
              <a:t> (Other): </a:t>
            </a:r>
            <a:r>
              <a:rPr lang="en-IN" sz="1600" dirty="0">
                <a:latin typeface="Adobe Caslon Pro" panose="0205050205050A020403" pitchFamily="18" charset="0"/>
              </a:rPr>
              <a:t>Shows a distinct preference leaning toward Debit Card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obe Caslon Pro Bold" panose="0205070206050A020403" pitchFamily="18" charset="0"/>
              </a:rPr>
              <a:t>Under 69: </a:t>
            </a:r>
            <a:r>
              <a:rPr lang="en-IN" sz="1600" dirty="0">
                <a:latin typeface="Adobe Caslon Pro" panose="0205050205050A020403" pitchFamily="18" charset="0"/>
              </a:rPr>
              <a:t>Mobile Payment is the dominant choice across all age groups under 69.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obe Caslon Pro" panose="0205050205050A020403" pitchFamily="18" charset="0"/>
              </a:rPr>
              <a:t>Seniors (69+): Cash remains the most preferred payment choice.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Adobe Caslon Pro" panose="0205050205050A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Adobe Caslon Pro" panose="0205050205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41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B5AAF78-88A9-4460-B310-A59040BCFC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7310474"/>
              </p:ext>
            </p:extLst>
          </p:nvPr>
        </p:nvGraphicFramePr>
        <p:xfrm>
          <a:off x="0" y="473016"/>
          <a:ext cx="4152630" cy="2406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E8908341-158D-4763-9612-0D27EA32FB4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53741032"/>
                  </p:ext>
                </p:extLst>
              </p:nvPr>
            </p:nvGraphicFramePr>
            <p:xfrm>
              <a:off x="3732516" y="426722"/>
              <a:ext cx="4098032" cy="241807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E8908341-158D-4763-9612-0D27EA32FB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32516" y="426722"/>
                <a:ext cx="4098032" cy="2418078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BCED92E-DFE6-4BCB-9770-DB56EC66F1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085591"/>
              </p:ext>
            </p:extLst>
          </p:nvPr>
        </p:nvGraphicFramePr>
        <p:xfrm>
          <a:off x="7732746" y="552044"/>
          <a:ext cx="4459255" cy="2096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F3CBF48-4FAC-4373-951C-B444E6ECD9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5296044"/>
              </p:ext>
            </p:extLst>
          </p:nvPr>
        </p:nvGraphicFramePr>
        <p:xfrm>
          <a:off x="-4" y="2648801"/>
          <a:ext cx="3830323" cy="2234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D7BB80B-C594-4C30-A4C6-8534F163EF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6198836"/>
              </p:ext>
            </p:extLst>
          </p:nvPr>
        </p:nvGraphicFramePr>
        <p:xfrm>
          <a:off x="3732515" y="2648801"/>
          <a:ext cx="4000231" cy="2234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62F0475-03EC-48BC-9418-ABADCCC3FC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942052"/>
              </p:ext>
            </p:extLst>
          </p:nvPr>
        </p:nvGraphicFramePr>
        <p:xfrm>
          <a:off x="7732746" y="2644714"/>
          <a:ext cx="4459255" cy="2238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346A7A4-3818-4640-BAC4-5FA6EC4A51FA}"/>
              </a:ext>
            </a:extLst>
          </p:cNvPr>
          <p:cNvSpPr txBox="1"/>
          <p:nvPr/>
        </p:nvSpPr>
        <p:spPr>
          <a:xfrm>
            <a:off x="152400" y="60961"/>
            <a:ext cx="8209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TASK 9 – Visual Analysis (Charts)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E6EF79-9334-44AD-B80B-660BB593A43B}"/>
              </a:ext>
            </a:extLst>
          </p:cNvPr>
          <p:cNvSpPr/>
          <p:nvPr/>
        </p:nvSpPr>
        <p:spPr>
          <a:xfrm>
            <a:off x="52933" y="0"/>
            <a:ext cx="140107" cy="5520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3FF09C-D543-485A-949B-20FE9B0BA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88560"/>
              </p:ext>
            </p:extLst>
          </p:nvPr>
        </p:nvGraphicFramePr>
        <p:xfrm>
          <a:off x="78470" y="4886964"/>
          <a:ext cx="5702570" cy="1920240"/>
        </p:xfrm>
        <a:graphic>
          <a:graphicData uri="http://schemas.openxmlformats.org/drawingml/2006/table">
            <a:tbl>
              <a:tblPr/>
              <a:tblGrid>
                <a:gridCol w="2851285">
                  <a:extLst>
                    <a:ext uri="{9D8B030D-6E8A-4147-A177-3AD203B41FA5}">
                      <a16:colId xmlns:a16="http://schemas.microsoft.com/office/drawing/2014/main" val="1826167015"/>
                    </a:ext>
                  </a:extLst>
                </a:gridCol>
                <a:gridCol w="2851285">
                  <a:extLst>
                    <a:ext uri="{9D8B030D-6E8A-4147-A177-3AD203B41FA5}">
                      <a16:colId xmlns:a16="http://schemas.microsoft.com/office/drawing/2014/main" val="3747958675"/>
                    </a:ext>
                  </a:extLst>
                </a:gridCol>
              </a:tblGrid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662509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Britannia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6562820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15923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Good Day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3436081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79100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Little Hearts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11579220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25541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Malkist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4071340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83399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Marie Gold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2650644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778847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Oreo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8983660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851681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Parle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2218230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363098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Sunfeast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1485815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472442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Tiger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6606313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360835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Unibic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13973760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239586"/>
                  </a:ext>
                </a:extLst>
              </a:tr>
              <a:tr h="14596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61567883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24077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59E1447-A829-439F-B85E-E3BAC7122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360633"/>
              </p:ext>
            </p:extLst>
          </p:nvPr>
        </p:nvGraphicFramePr>
        <p:xfrm>
          <a:off x="5953760" y="4882877"/>
          <a:ext cx="6238240" cy="1924327"/>
        </p:xfrm>
        <a:graphic>
          <a:graphicData uri="http://schemas.openxmlformats.org/drawingml/2006/table">
            <a:tbl>
              <a:tblPr/>
              <a:tblGrid>
                <a:gridCol w="6238240">
                  <a:extLst>
                    <a:ext uri="{9D8B030D-6E8A-4147-A177-3AD203B41FA5}">
                      <a16:colId xmlns:a16="http://schemas.microsoft.com/office/drawing/2014/main" val="1228187750"/>
                    </a:ext>
                  </a:extLst>
                </a:gridCol>
              </a:tblGrid>
              <a:tr h="192432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707046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9F16799D-BAA0-48D4-BBCA-22FCC8A3DFC8}"/>
              </a:ext>
            </a:extLst>
          </p:cNvPr>
          <p:cNvSpPr/>
          <p:nvPr/>
        </p:nvSpPr>
        <p:spPr>
          <a:xfrm>
            <a:off x="5953759" y="4886669"/>
            <a:ext cx="6238241" cy="377273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Key Visual Insights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97C6DF-76E1-44A8-8E87-9DF5763A8F09}"/>
              </a:ext>
            </a:extLst>
          </p:cNvPr>
          <p:cNvSpPr txBox="1"/>
          <p:nvPr/>
        </p:nvSpPr>
        <p:spPr>
          <a:xfrm rot="10800000" flipH="1" flipV="1">
            <a:off x="5974079" y="5324903"/>
            <a:ext cx="62382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dobe Caslon Pro Bold" panose="0205070206050A020403" pitchFamily="18" charset="0"/>
              </a:rPr>
              <a:t>Unibic</a:t>
            </a:r>
            <a:r>
              <a:rPr lang="en-IN" dirty="0"/>
              <a:t> </a:t>
            </a:r>
            <a:r>
              <a:rPr lang="en-IN" dirty="0">
                <a:latin typeface="Adobe Caslon Pro" panose="0205050205050A020403" pitchFamily="18" charset="0"/>
              </a:rPr>
              <a:t>leads product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dobe Caslon Pro Bold" panose="0205070206050A020403" pitchFamily="18" charset="0"/>
              </a:rPr>
              <a:t>Male customers </a:t>
            </a:r>
            <a:r>
              <a:rPr lang="en-IN" dirty="0">
                <a:latin typeface="Adobe Caslon Pro" panose="0205050205050A020403" pitchFamily="18" charset="0"/>
              </a:rPr>
              <a:t>generate the highest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dobe Caslon Pro Bold" panose="0205070206050A020403" pitchFamily="18" charset="0"/>
              </a:rPr>
              <a:t>Monthly revenue and profit </a:t>
            </a:r>
            <a:r>
              <a:rPr lang="en-IN" dirty="0">
                <a:latin typeface="Adobe Caslon Pro" panose="0205050205050A020403" pitchFamily="18" charset="0"/>
              </a:rPr>
              <a:t>fluctuate.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dobe Caslon Pro Bold" panose="0205070206050A020403" pitchFamily="18" charset="0"/>
              </a:rPr>
              <a:t>Product performance </a:t>
            </a:r>
            <a:r>
              <a:rPr lang="en-IN" dirty="0">
                <a:latin typeface="Adobe Caslon Pro" panose="0205050205050A020403" pitchFamily="18" charset="0"/>
              </a:rPr>
              <a:t>varies significantly.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dobe Caslon Pro Bold" panose="0205070206050A020403" pitchFamily="18" charset="0"/>
              </a:rPr>
              <a:t>Scatter &amp; heatmaps </a:t>
            </a:r>
            <a:r>
              <a:rPr lang="en-IN" dirty="0">
                <a:latin typeface="Adobe Caslon Pro" panose="0205050205050A020403" pitchFamily="18" charset="0"/>
              </a:rPr>
              <a:t>reveal key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875873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85815-0C17-4376-BEED-277D26F4C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4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AA986-B013-498A-8B11-48516CA2F68D}"/>
              </a:ext>
            </a:extLst>
          </p:cNvPr>
          <p:cNvSpPr txBox="1"/>
          <p:nvPr/>
        </p:nvSpPr>
        <p:spPr>
          <a:xfrm>
            <a:off x="0" y="626872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dobe Caslon Pro Bold" panose="0205070206050A020403" pitchFamily="18" charset="0"/>
              </a:rPr>
              <a:t>Boost </a:t>
            </a:r>
            <a:r>
              <a:rPr lang="en-IN" sz="1200" dirty="0" err="1">
                <a:latin typeface="Adobe Caslon Pro Bold" panose="0205070206050A020403" pitchFamily="18" charset="0"/>
              </a:rPr>
              <a:t>Unibic</a:t>
            </a:r>
            <a:r>
              <a:rPr lang="en-IN" sz="1200" dirty="0">
                <a:latin typeface="Adobe Caslon Pro Bold" panose="0205070206050A020403" pitchFamily="18" charset="0"/>
              </a:rPr>
              <a:t>: Increase marketing and stock for this top-selling product.</a:t>
            </a:r>
          </a:p>
          <a:p>
            <a:r>
              <a:rPr lang="en-IN" sz="1200" dirty="0">
                <a:latin typeface="Adobe Caslon Pro Bold" panose="0205070206050A020403" pitchFamily="18" charset="0"/>
              </a:rPr>
              <a:t>Retain Key Buyers: Launch VIP retention strategies for high-value client like Robert Hernandez.</a:t>
            </a:r>
          </a:p>
          <a:p>
            <a:r>
              <a:rPr lang="en-IN" sz="1200" dirty="0">
                <a:latin typeface="Adobe Caslon Pro Bold" panose="0205070206050A020403" pitchFamily="18" charset="0"/>
              </a:rPr>
              <a:t>Target Ads: Refine campaigns using age and gender demographic data.</a:t>
            </a:r>
            <a:endParaRPr lang="en-IN" dirty="0">
              <a:latin typeface="Adobe Caslon Pro Bold" panose="0205070206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65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7220</TotalTime>
  <Words>1305</Words>
  <Application>Microsoft Office PowerPoint</Application>
  <PresentationFormat>Widescreen</PresentationFormat>
  <Paragraphs>331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Adobe Arabic</vt:lpstr>
      <vt:lpstr>Adobe Caslon Pro</vt:lpstr>
      <vt:lpstr>Adobe Caslon Pro Bold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Sushreesangita Behera</dc:creator>
  <cp:lastModifiedBy>Sushreesangita Behera</cp:lastModifiedBy>
  <cp:revision>621</cp:revision>
  <dcterms:created xsi:type="dcterms:W3CDTF">2026-09-22T19:38:12Z</dcterms:created>
  <dcterms:modified xsi:type="dcterms:W3CDTF">2026-10-03T05:40:31Z</dcterms:modified>
</cp:coreProperties>
</file>